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d686ac2ca94524" /><Relationship Type="http://schemas.openxmlformats.org/officeDocument/2006/relationships/extended-properties" Target="/docProps/app.xml" Id="Rd678152752f34db2" /><Relationship Type="http://schemas.openxmlformats.org/officeDocument/2006/relationships/officeDocument" Target="/ppt/presentation.xml" Id="R5ae8f8b36763416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8d915a63f9d43b4"/>
  </p:sldMasterIdLst>
  <p:notesMasterIdLst>
    <p:notesMasterId xmlns:r="http://schemas.openxmlformats.org/officeDocument/2006/relationships" r:id="R32e5e957acc343ef"/>
  </p:notesMasterIdLst>
  <p:sldIdLst>
    <p:sldId xmlns:r="http://schemas.openxmlformats.org/officeDocument/2006/relationships" id="256" r:id="R1b7df2e6a75444e5"/>
    <p:sldId xmlns:r="http://schemas.openxmlformats.org/officeDocument/2006/relationships" id="257" r:id="Rb50529a719e24f89"/>
    <p:sldId xmlns:r="http://schemas.openxmlformats.org/officeDocument/2006/relationships" id="258" r:id="Rc6934fec202c404f"/>
    <p:sldId xmlns:r="http://schemas.openxmlformats.org/officeDocument/2006/relationships" id="259" r:id="R6f7e6dddb23e44e4"/>
    <p:sldId xmlns:r="http://schemas.openxmlformats.org/officeDocument/2006/relationships" id="260" r:id="Rd388df75551a4e0e"/>
    <p:sldId xmlns:r="http://schemas.openxmlformats.org/officeDocument/2006/relationships" id="261" r:id="Re92f32fbe0734a82"/>
    <p:sldId xmlns:r="http://schemas.openxmlformats.org/officeDocument/2006/relationships" id="262" r:id="R4fe32f415c784cd3"/>
    <p:sldId xmlns:r="http://schemas.openxmlformats.org/officeDocument/2006/relationships" id="263" r:id="R0142bd667c6c4eca"/>
    <p:sldId xmlns:r="http://schemas.openxmlformats.org/officeDocument/2006/relationships" id="264" r:id="Rb972e8c2909f42b0"/>
    <p:sldId xmlns:r="http://schemas.openxmlformats.org/officeDocument/2006/relationships" id="265" r:id="R17381ac20bdf489f"/>
    <p:sldId xmlns:r="http://schemas.openxmlformats.org/officeDocument/2006/relationships" id="266" r:id="R0cac4bb456cd4b43"/>
    <p:sldId xmlns:r="http://schemas.openxmlformats.org/officeDocument/2006/relationships" id="267" r:id="R48c7925a36d342d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adb6718ed06453c" /><Relationship Type="http://schemas.openxmlformats.org/officeDocument/2006/relationships/slideMaster" Target="/ppt/slideMasters/slideMaster1.xml" Id="R38d915a63f9d43b4" /><Relationship Type="http://schemas.openxmlformats.org/officeDocument/2006/relationships/notesMaster" Target="/ppt/notesMasters/notesMaster1.xml" Id="R32e5e957acc343ef" /><Relationship Type="http://schemas.openxmlformats.org/officeDocument/2006/relationships/presProps" Target="/ppt/presProps.xml" Id="R69e22a4839474b0e" /><Relationship Type="http://schemas.openxmlformats.org/officeDocument/2006/relationships/tableStyles" Target="/ppt/tableStyles.xml" Id="R0da4f7120a5e4cd6" /><Relationship Type="http://schemas.openxmlformats.org/officeDocument/2006/relationships/slide" Target="/ppt/slides/slide1.xml" Id="R1b7df2e6a75444e5" /><Relationship Type="http://schemas.openxmlformats.org/officeDocument/2006/relationships/slide" Target="/ppt/slides/slide2.xml" Id="Rb50529a719e24f89" /><Relationship Type="http://schemas.openxmlformats.org/officeDocument/2006/relationships/slide" Target="/ppt/slides/slide3.xml" Id="Rc6934fec202c404f" /><Relationship Type="http://schemas.openxmlformats.org/officeDocument/2006/relationships/slide" Target="/ppt/slides/slide4.xml" Id="R6f7e6dddb23e44e4" /><Relationship Type="http://schemas.openxmlformats.org/officeDocument/2006/relationships/slide" Target="/ppt/slides/slide5.xml" Id="Rd388df75551a4e0e" /><Relationship Type="http://schemas.openxmlformats.org/officeDocument/2006/relationships/slide" Target="/ppt/slides/slide6.xml" Id="Re92f32fbe0734a82" /><Relationship Type="http://schemas.openxmlformats.org/officeDocument/2006/relationships/slide" Target="/ppt/slides/slide7.xml" Id="R4fe32f415c784cd3" /><Relationship Type="http://schemas.openxmlformats.org/officeDocument/2006/relationships/slide" Target="/ppt/slides/slide8.xml" Id="R0142bd667c6c4eca" /><Relationship Type="http://schemas.openxmlformats.org/officeDocument/2006/relationships/slide" Target="/ppt/slides/slide9.xml" Id="Rb972e8c2909f42b0" /><Relationship Type="http://schemas.openxmlformats.org/officeDocument/2006/relationships/slide" Target="/ppt/slides/slide10.xml" Id="R17381ac20bdf489f" /><Relationship Type="http://schemas.openxmlformats.org/officeDocument/2006/relationships/slide" Target="/ppt/slides/slide11.xml" Id="R0cac4bb456cd4b43" /><Relationship Type="http://schemas.openxmlformats.org/officeDocument/2006/relationships/slide" Target="/ppt/slides/slide12.xml" Id="R48c7925a36d342d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576c1e6f1314a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409e14747ac4980" /><Relationship Type="http://schemas.openxmlformats.org/officeDocument/2006/relationships/notesMaster" Target="/ppt/notesMasters/notesMaster1.xml" Id="Rd92ed7ad5450477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fa1637267964265" /><Relationship Type="http://schemas.openxmlformats.org/officeDocument/2006/relationships/notesMaster" Target="/ppt/notesMasters/notesMaster1.xml" Id="Refe92dfae136416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db9bdf3573a48a0" /><Relationship Type="http://schemas.openxmlformats.org/officeDocument/2006/relationships/notesMaster" Target="/ppt/notesMasters/notesMaster1.xml" Id="R2c59bc58d52b401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576dae11c3b495f" /><Relationship Type="http://schemas.openxmlformats.org/officeDocument/2006/relationships/notesMaster" Target="/ppt/notesMasters/notesMaster1.xml" Id="R8e4c61e04df0432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810d9d06eb848d4" /><Relationship Type="http://schemas.openxmlformats.org/officeDocument/2006/relationships/notesMaster" Target="/ppt/notesMasters/notesMaster1.xml" Id="R8e9db997d2eb455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7cdf0e4dd0f4b4f" /><Relationship Type="http://schemas.openxmlformats.org/officeDocument/2006/relationships/notesMaster" Target="/ppt/notesMasters/notesMaster1.xml" Id="R140adebd26db428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a6768e0b5bf4fcc" /><Relationship Type="http://schemas.openxmlformats.org/officeDocument/2006/relationships/notesMaster" Target="/ppt/notesMasters/notesMaster1.xml" Id="Ref43325daa2c4d5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44d7f39198e4526" /><Relationship Type="http://schemas.openxmlformats.org/officeDocument/2006/relationships/notesMaster" Target="/ppt/notesMasters/notesMaster1.xml" Id="Rbcee07b4b0f9453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dcb9d728f3043ef" /><Relationship Type="http://schemas.openxmlformats.org/officeDocument/2006/relationships/notesMaster" Target="/ppt/notesMasters/notesMaster1.xml" Id="Ra3021adc521b43f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3a3a0fa99e942ad" /><Relationship Type="http://schemas.openxmlformats.org/officeDocument/2006/relationships/notesMaster" Target="/ppt/notesMasters/notesMaster1.xml" Id="Rf1724826bed245c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dd2532ea4a2407e" /><Relationship Type="http://schemas.openxmlformats.org/officeDocument/2006/relationships/notesMaster" Target="/ppt/notesMasters/notesMaster1.xml" Id="R40f9f4e13fdb43c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dc1ecc6b3764ee7" /><Relationship Type="http://schemas.openxmlformats.org/officeDocument/2006/relationships/notesMaster" Target="/ppt/notesMasters/notesMaster1.xml" Id="R09bae0361360410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45d18c507748f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78a30246d1e427b" /><Relationship Type="http://schemas.openxmlformats.org/officeDocument/2006/relationships/slideLayout" Target="/ppt/slideLayouts/slideLayout1.xml" Id="R299173bd037441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9173bd037441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2dbac77f8a4763" /><Relationship Type="http://schemas.openxmlformats.org/officeDocument/2006/relationships/notesSlide" Target="/ppt/notesSlides/notesSlide1.xml" Id="R17c90f47e6af4d5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1ef8bed18142b4" /><Relationship Type="http://schemas.openxmlformats.org/officeDocument/2006/relationships/notesSlide" Target="/ppt/notesSlides/notesSlide2.xml" Id="Rf8a48f0150d54bb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b0d3d3d9fa4898" /><Relationship Type="http://schemas.openxmlformats.org/officeDocument/2006/relationships/notesSlide" Target="/ppt/notesSlides/notesSlide3.xml" Id="R4ac88196cde240f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4d6bf60fdb452b" /><Relationship Type="http://schemas.openxmlformats.org/officeDocument/2006/relationships/notesSlide" Target="/ppt/notesSlides/notesSlide4.xml" Id="Rf7c9541e9323486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35de89b5a9476f" /><Relationship Type="http://schemas.openxmlformats.org/officeDocument/2006/relationships/notesSlide" Target="/ppt/notesSlides/notesSlide5.xml" Id="R1d55342254af42d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61475c3be04842" /><Relationship Type="http://schemas.openxmlformats.org/officeDocument/2006/relationships/notesSlide" Target="/ppt/notesSlides/notesSlide6.xml" Id="R4f069af261904aa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c484c0710d4ca6" /><Relationship Type="http://schemas.openxmlformats.org/officeDocument/2006/relationships/notesSlide" Target="/ppt/notesSlides/notesSlide7.xml" Id="R09b705c39a834a6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746ba816b94bbd" /><Relationship Type="http://schemas.openxmlformats.org/officeDocument/2006/relationships/notesSlide" Target="/ppt/notesSlides/notesSlide8.xml" Id="Rc1d13ef8bea24f3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e26ebe52ab4c20" /><Relationship Type="http://schemas.openxmlformats.org/officeDocument/2006/relationships/notesSlide" Target="/ppt/notesSlides/notesSlide9.xml" Id="R42ee273da05645a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10f804ae194b1d" /><Relationship Type="http://schemas.openxmlformats.org/officeDocument/2006/relationships/notesSlide" Target="/ppt/notesSlides/notesSlide10.xml" Id="Rea988b4f105447f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65a26041a4430b" /><Relationship Type="http://schemas.openxmlformats.org/officeDocument/2006/relationships/notesSlide" Target="/ppt/notesSlides/notesSlide11.xml" Id="Raf46bd53fb124c0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0279902c7b4a9f" /><Relationship Type="http://schemas.openxmlformats.org/officeDocument/2006/relationships/notesSlide" Target="/ppt/notesSlides/notesSlide12.xml" Id="R999f6b44549a46f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A338C3-8C50-4D63-81A9-FEC0637A9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8858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222222"/>
                </a:solidFill>
              </a:defRPr>
            </a:pPr>
            <a:r>
              <a:rPr sz="4200" b="1">
                <a:solidFill>
                  <a:srgbClr val="222222"/>
                </a:solidFill>
              </a:rPr>
              <a:t>First-half 205 experiments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28D366-DB96-4C94-B35E-C02E73644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22222"/>
                </a:solidFill>
              </a:defRPr>
            </a:pPr>
            <a:r>
              <a:rPr sz="1950" b="0">
                <a:solidFill>
                  <a:srgbClr val="222222"/>
                </a:solidFill>
              </a:rPr>
              <a:t>Model routing on computer-science multiple-choice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17E461-7200-4C28-A77B-65A2162B5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050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A954C7-9C12-44A2-AE15-69BEB5520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95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E3C3A9-578C-4E4B-A903-258D9C38A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2526E5-3E19-4C9F-B3E6-D3FC4E2C4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routing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5429D8-82E7-4974-A482-2D6604979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67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select one model per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C3462F-A715-4035-83D6-3E6408208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95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8357B7-9507-4346-90AA-9B7F341FE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048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Dataset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627AA0-9A7B-4259-8546-9BC87CBAF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33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410 MCQs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52F687-E8D9-406E-B6ED-0B74FDF3D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867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computer-science questions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74BA3C-B9AC-4718-870B-D2CE1C814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95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CD8A09-5394-46EC-8755-445BE25E9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048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GPT-4o mini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DB3A18-0D60-4C5D-A982-62F07A135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333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stronger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CE9AB7-FBB1-4625-92A1-C3BCA9086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867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higher accuracy, higher cost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FFB0BD-1E4E-4806-93A3-7B8A376F5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95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374323-5B9B-4F88-BEE4-EC480C2C2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048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GPT-4o nano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A55D35-1B89-4D70-BA79-3A629D662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333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6B35"/>
                </a:solidFill>
              </a:defRPr>
            </a:pPr>
            <a:r>
              <a:rPr sz="2925" b="1">
                <a:solidFill>
                  <a:srgbClr val="FF6B35"/>
                </a:solidFill>
              </a:rPr>
              <a:t>cheaper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8689B7-6673-4A93-90E5-994A9CCAD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867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lower cost, lower accuracy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B20095-1BA3-460E-B88F-531817938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339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Goal: preserve answer accuracy while reducing cost. Train and validate on the first 205 questions, then evaluate every router on the fixed second-half 205-question test set.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E3B1A6-C43D-4ADE-8DA4-B76686A23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Sources: routing_split_half1_*.json, gepa_router_prompt_result_hybrid_half1_*.json, routing_cost_comparison_testdata_hybrid_half1_*.csv, softprompt_router_*.json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D20AE9-75FE-4C21-A16E-5299A3126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156041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9844DF-891B-49C5-8DDD-7E2594B63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205/205 framing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4CD1A5-8E4B-4F1B-A641-71C867C14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The fixed test set offers substantial cost savings through routing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CC9F43-56B5-48EB-BE72-CF4F2AE15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E1C7DC-6D5A-47FC-B64F-038A184BA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2381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D63E10-4364-4B40-BD02-CE31A7C6F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test mini-only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57C729-AF6E-4A66-BDF7-EF7DB718D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6B35"/>
                </a:solidFill>
              </a:defRPr>
            </a:pPr>
            <a:r>
              <a:rPr sz="2925" b="1">
                <a:solidFill>
                  <a:srgbClr val="FF6B35"/>
                </a:solidFill>
              </a:rPr>
              <a:t>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B65069-C14C-4041-8CE6-4A7CF32E4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24150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12.7%; must escalate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6BC1E9-4356-4AE3-BD3B-70FA130A8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752600"/>
            <a:ext cx="2381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6B2025-5361-46BA-9DC3-718CE1422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90500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test both-correct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537361-2B75-454A-B320-6D27A429B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19075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139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447485-A989-4095-B2BE-D1815D132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724150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67.8%; can be cheap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F2724F-6B2F-46C7-8D7D-E91F5B62C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752600"/>
            <a:ext cx="2381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3121E3-780C-4417-A1E3-B57DDF4A8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90500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test both-wrong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16B099-99C7-4D3E-A4AE-2E0B70CE2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19075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33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C8BF61-4EA1-4329-8C34-3B3DB5AB1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724150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16.1%; no route fixes 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61A677-A9B8-4A79-A62F-6A957A008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52600"/>
            <a:ext cx="2381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F22F02-9D8E-4C40-90CE-E4AF01635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90500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oracle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984828-A04F-4BCA-9069-89AC79B59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9075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6B35"/>
                </a:solidFill>
              </a:defRPr>
            </a:pPr>
            <a:r>
              <a:rPr sz="2925" b="1">
                <a:solidFill>
                  <a:srgbClr val="FF6B35"/>
                </a:solidFill>
              </a:rPr>
              <a:t>83.9%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A397B1-44CE-426C-974B-5D89889FC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24150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179 nano / 26 mini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6D639D-FDBA-4024-B51D-B5565AC3F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95700"/>
            <a:ext cx="1076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1D23A2-1F70-4956-873D-9061B5731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00475"/>
            <a:ext cx="1943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Policy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ADFB96-E7C7-4ADB-BD55-CFD1F6A43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80047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Accuracy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D05A8D-F312-4FE3-AAE3-1D271D399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800475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Cost / 1k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44EC3E-2019-4CC2-8EC7-A921C86C5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800475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Savings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BD6052-A9A5-4652-9539-274F6ABC5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00475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nano/mini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4A9D5C-1722-4853-9C48-2EAE4A589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00475"/>
            <a:ext cx="3467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Meaning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CB330B-EB98-4E1E-A7AB-3B7171669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363A00-2E72-4AE7-BA9F-062C4CBF2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0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all-mini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FFB3E1-7ADF-4AA8-AA7D-BD2DD8CF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19100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80.5%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6D7A31-64AE-4FD2-A67D-249B85C5E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19100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$1.124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79B548-6980-4CCB-847A-A7FC41000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191000"/>
            <a:ext cx="99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421D087-E2C5-4409-8CBD-4BF340531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9100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0/205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C582F37-4317-4F30-A4F8-0A15EF02F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9100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Accuracy baseline.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8A4EF8-E679-42C6-AE75-2FAB86D2F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101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5CD25F4-97D9-4A05-BC1D-1C25E9832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05350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all-nano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CE11A85-1E04-4B38-876C-65C8FFF69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70535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71.2%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8A134D4-5754-49B1-A675-48104EB8D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70535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$0.291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3223B80-499F-47DD-8112-F87F8C82B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705350"/>
            <a:ext cx="99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74.1%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3EEBC94-254C-435C-AD3F-310E7201F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0535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205/0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F62ACF3-B9A4-4807-ADEE-1A25796D4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70535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Cheap, but loses 9.3 points.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0DDEE20-1270-46D4-9726-BF42A62B0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244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1C6D6ED-9181-4A26-90E7-F037A792A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19700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oracle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ACDA393-05FE-4810-BFC5-B2C88455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21970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83.9%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D239A07-96D8-4089-9269-B15688C18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21970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$0.402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189E57D-D390-455B-BE59-03709143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219700"/>
            <a:ext cx="99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64.2%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F15516A-9A51-43A7-AF12-D86FBCD17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1970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179/26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C45995A-EF55-4F68-9D5E-B8C0EAC58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21970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Large theoretical room because most items are both-correct.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3C68B7C-C9D4-4DBA-85B2-63AD9BE8A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Fixed test outcomes: mini-only 26, nano-only 7, both-correct 139, both-wrong 33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0DC0CFC-2469-4EA6-9BC5-FD2DC5616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728872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36A621-EA44-44FC-82D1-399AB5987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Why active sampling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FB6860-FDE3-4BE6-9A26-F20C85B05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Critical cases carry the routing signal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EE60C1-EEA2-4471-B6B2-7BB4D875C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D0B886-89BB-4514-BD71-DFEDCB1B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A critical case is one where the models disagree. Agreement cases reveal little about which route to choose; disagreement cases expose the decision boundary.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169704-D59A-4FA2-AC6D-475E2A9D3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52578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C7D1CA-92C2-4864-B5B5-8794A2513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431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MINI-ONLY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49CAF3-7223-4120-838C-FAAC3B32E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09850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22222"/>
                </a:solidFill>
              </a:defRPr>
            </a:pPr>
            <a:r>
              <a:rPr sz="1875" b="1">
                <a:solidFill>
                  <a:srgbClr val="222222"/>
                </a:solidFill>
              </a:rPr>
              <a:t>mini correct / nano wrong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86EEEE-B864-4ED8-BD86-7C77CD2A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0"/>
            <a:ext cx="466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Escalation is necessary to preserve accuracy.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A73D19-DD45-4191-A139-9261EFA81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209800"/>
            <a:ext cx="52578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839524-FC29-4DD2-AA80-A94CDA58F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3431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80ED"/>
                </a:solidFill>
              </a:defRPr>
            </a:pPr>
            <a:r>
              <a:rPr sz="1200" b="1">
                <a:solidFill>
                  <a:srgbClr val="2F80ED"/>
                </a:solidFill>
              </a:rPr>
              <a:t>NANO-ONLY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CB7BEC-1121-4C5D-8F65-F4CE344D1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609850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22222"/>
                </a:solidFill>
              </a:defRPr>
            </a:pPr>
            <a:r>
              <a:rPr sz="1875" b="1">
                <a:solidFill>
                  <a:srgbClr val="222222"/>
                </a:solidFill>
              </a:rPr>
              <a:t>nano correct / mini wrong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B591D6-3E8D-42B3-ADDB-3E85252A7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952750"/>
            <a:ext cx="466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The cheaper route is also the better route.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20758C-C7DB-4D2A-B92E-C7C590B63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24250"/>
            <a:ext cx="11391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BE6B76-5BCF-4344-B19E-665BC4492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29025"/>
            <a:ext cx="2228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Size-50 sampling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3A41C4-63D9-4A32-A6F5-FA53C4B1F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29025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mini-only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0F499C-F03F-493F-ABE1-BE563659B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29025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nano-only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A7CC75-7374-4C6B-B7B8-CAF527676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629025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critical share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6430C9-EFDD-4807-BBD3-00496ED21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29025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both-correct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BDBE73-1B89-478A-982E-0C76DEE62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29025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Test accuracy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3E1883-AF9D-441F-A1AC-5B13ED0ED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62902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Savings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0289CC-4C9F-4214-926B-6D62C8A76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243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4D5122-0959-4E73-A568-90B7F30EF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19550"/>
            <a:ext cx="2228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actively selected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A4A9E3-852D-4B83-8F4D-4033F5494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19550"/>
            <a:ext cx="99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19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9401A7-D1E0-4327-8A61-1A988EEB1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19550"/>
            <a:ext cx="99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9F2E59-0577-46EF-A974-BC4691E80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01955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40%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CA0A1E-637B-4D71-8FC0-12C61EEA1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1955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40%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DCF705-5B0A-42EE-9F93-B828CEC7A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195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80.0%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9D2958-7389-487F-9C56-A021E4743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0195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12.6%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73B522-7115-4FD7-819E-8353308D1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38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53120A-D147-4E1E-AE26-238B62E73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33900"/>
            <a:ext cx="2228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random sample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5CF899-EBB5-4A0F-B7E6-6C29ADF4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33900"/>
            <a:ext cx="99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908728D-072D-4B3F-A5DC-6BDAA27F6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533900"/>
            <a:ext cx="99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0A4E0F-8F69-4529-B98C-6AE3F3BEF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53390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16%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98E7C2F-2848-4DFB-AA97-F7FB37C81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3390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74%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16FD4C3-6943-4183-B1AC-4DCA8942C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3390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73.7%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1BD21D1-82C5-4867-BD5B-4BBA7B2E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339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49.5%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D4082DC-40F5-436D-A3EE-C4C51A3B9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149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Random sampling mostly selected easy both-correct cases, pushing the router toward nano and losing 6.3 accuracy points. We therefore oversampled critical cases deliberately.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AA281AA-2F46-423F-A6D0-D8862810C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Critical = mini-only + nano-only; sources: half1 trainval50 with-critical split and random-control trainval50 split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9AEE290-864A-4802-9855-118B7CFF8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218785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ED4EA2-981C-4288-920B-E4C7976F7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Prompt-router size sweep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17D460-5C3A-4581-AD4B-C0FD57343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Larger samples were not automatically better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A8C544-048E-482B-9074-BEB7C0D8E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B2856B-F301-418F-81CB-7A2526DAB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11391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46664A-DEB3-4DB3-92B6-87B82E274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Size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5AA86D-5BE5-4FBB-BE59-9ED2D8F6F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57375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M/N/B/W mix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FC6130-3626-43D0-BD6C-C9E2D6DEB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57375"/>
            <a:ext cx="89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Accuracy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233B1A-1585-4AC7-BD3F-3D227B269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857375"/>
            <a:ext cx="89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Savings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ABEC71-A47B-442D-9800-BC316BB1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5737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test nano/mini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843DF5-2A88-48FB-A856-8DFA2731F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Readout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20F8D7-EA08-4A4E-9BD9-99960E634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FBD0C2-7E2E-4634-9F65-D1378AD17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4790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25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A8AE9E-3DD7-4AE3-81DC-FF1E0D29A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479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76/0/24/0%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EEEF75-C4F4-4E08-970B-9EF739D0B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4790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78.5%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B657BD-228A-4640-A7CD-8FB341305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4790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18.6%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F18B35-8E6E-42F4-AE76-2AC111319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47900"/>
            <a:ext cx="108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64/141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3A8971-047E-498B-A5B3-BCA254BAD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Intermediate trade-off.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0A88D7-5230-481F-A6C0-68A11A919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908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C31692-2713-4A22-A661-B81E49F91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860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50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B67A83-6E96-49BA-9688-170EA79A5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8605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38/2/40/20%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2FF3F0-E531-4982-991C-C13AFCF46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8605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80.0%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0F8AB7-26F7-43A9-9C5B-380BF38F5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8605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12.6%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C86329-3741-4A89-9C44-F5D381B9A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86050"/>
            <a:ext cx="108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45/160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030D6A-49E7-4EB4-854C-F70BD57B3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8605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Best accuracy-preserving point: 80.0%, but only 12.6% savings.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9A4C59-1543-4023-954B-A8EE05F97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289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1ECD99-A8CA-4D30-A3D0-8A6DB49D1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2420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75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AE54EC-F8ED-4D20-8BF7-EBDB15E3E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242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25/1/57/16%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99950E-6D9D-4575-BE0A-C818A20C7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2420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77.6%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D94050-865F-4486-9AE5-63DFEF3BE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2420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31.2%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09CF71-5EBD-424F-8A4B-E53C37663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24200"/>
            <a:ext cx="108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109/96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6F4DE94-260D-4C8C-BF39-020DDA66B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2420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Intermediate trade-off.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260EBF-2CF2-4B14-B5C4-BEE907E12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671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1C21F9-3D40-43B8-97C6-9032B6D2D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623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100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76F0B2E-D07B-46CB-9A00-BF74E0020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6235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19/2/62/17%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ED0CE21-4311-478F-A6F9-4171BFB18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6235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76.1%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68BC2E5-EA06-44A1-951D-E1CC9426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6235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43.4%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2E0D47A-5021-4B5B-B9D2-320C7931B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562350"/>
            <a:ext cx="108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146/59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3DDD1D9-749E-46B2-920E-DD7D0D2E3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6235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Intermediate trade-off.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F2FA87B-FC13-40EF-87C7-D96ECF81B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8DB6519-479E-424B-A14B-3221B20A0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0050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125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5254958-4E02-4391-8CB8-DE1EAA72E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005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15/2/64/18%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3D749A1-76E9-478B-9C52-6502CB577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0050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72.2%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1BD7807-C6C2-4FE0-B734-15ABC671A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00050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67.5%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00BD132-AE11-43AC-A61F-B1DB45E1B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00500"/>
            <a:ext cx="108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191/14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FA10EA2-71B6-41DC-8E2E-16A9B97C6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0050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The router became nano-heavy as both-correct dominated.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CD301A0-5973-4410-8767-A02CAF217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434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BD52FDA-96BF-45EA-BD76-8E6DD74A1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386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150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0620992-DB18-44D6-B5CF-F14ECACA0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3865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13/4/67/16%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969834A-A6CB-4C98-A647-B50851CFD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3865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72.2%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8DBDEF2-F812-4E24-9269-CC865D4AC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43865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62.3%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805D8C3-838B-4DD2-8A45-68F84AE5B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38650"/>
            <a:ext cx="108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193/12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0F6EA59-D261-493E-96EE-B1E45E7E6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3865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The router became nano-heavy as both-correct dominated.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AB10F8C-01C9-4D90-87D0-C7207C11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81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4B4BEF0-FD4D-449C-894E-25E757529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7680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200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461CDFB-0109-4200-86A3-881D64FF8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768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10/5/71/15%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EEFDF5E-D21D-4B73-80A7-72FCD5EF9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87680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72.2%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39DF4A6-73B6-4B95-BCC1-F84DD7B3C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87680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62.3%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84F3FEE-B68A-4572-970A-512039AA1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76800"/>
            <a:ext cx="108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193/12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82DCBD9-6225-4CE2-8C47-BA78CFC89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7680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The router became nano-heavy as both-correct dominated.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D182F04-AA55-4381-A451-B64F852FB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673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Size 50 best preserved accuracy. At larger sizes, the falling critical share and rising both-correct share pushed the router toward nano-heavy policies.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25053D8-69D4-483B-9644-2746E172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Fixed test set: second-half 205; source: routing_cost_comparison_testdata_hybrid_half1_trainval*_openai.csv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B915D02-EBE0-41F0-98AD-ED7A95729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048713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DFA918-00A3-46FD-B3B9-23C8D105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Random-control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A28C4C-B365-49A2-A464-19BDC96DA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Random controls showed that natural sampling pushed the router toward nano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BEE6A2-B387-4C96-A36F-B156A2AEB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13698F-B444-4590-B318-77A81BA2C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049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83C2FF-D94D-4F8F-8816-5FEEEB434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383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mini-only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649752-37DE-4325-A072-852BEAC3A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7049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CB2132-82CA-4FC8-9A6A-C38F69DC9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6383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nano-only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56B30A-6EB4-43CD-B6CB-61170C7C7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7049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23F25C-053B-40D1-B826-45CFB07DD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383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both correct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B2AF5A-FEE7-4739-B9FD-27C47A6E8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7049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119204-3D23-4164-943D-E1FE27522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6383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both wrong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697C67-FA9F-4DEA-B4B5-E576B3D26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145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random 50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AF9AAF-830A-47C9-941B-E512BCFEB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33600"/>
            <a:ext cx="60579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782FE8-B4BB-4B93-902B-7AAC96B14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181225"/>
            <a:ext cx="54864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12%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50F7B9-B0C5-446B-8EDD-06B54004B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9790" y="2133600"/>
            <a:ext cx="20193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64B903-9B41-438B-9F00-50CD0172E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2133600"/>
            <a:ext cx="373570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575342-ECA7-48AA-9EB7-27B7E26FC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0295" y="2181225"/>
            <a:ext cx="367855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74%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5765DB-58BE-427D-AEF7-4F6F65D1E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133600"/>
            <a:ext cx="504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FEBE18-463E-4EB6-A4CA-3DEE3B4A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81225"/>
            <a:ext cx="4476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10%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54FB91-FEA1-429F-A0FE-55068E20A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621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6/2/37/5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FD1034-CA12-4DAA-AF9B-E3010397D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621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acc 73.7%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23384C-7CE3-4E30-A406-6272C79B6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16217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save 49.5%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442651-DE61-46DF-8452-BAA9E8A47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random 100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E4B53D-1BBF-41D7-B5FC-C4C4B0F3E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81300"/>
            <a:ext cx="504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3D37F0-0752-420B-8705-7DFB8BB61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828925"/>
            <a:ext cx="4476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10%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157E86-0D11-47BF-BF46-CB897F760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2781300"/>
            <a:ext cx="20193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287AA9-91B9-4CEE-A6BD-7FBD50C80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0755" y="2781300"/>
            <a:ext cx="363474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DBF4A4-6CBC-49C4-8FE2-64555EB2D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9330" y="2828925"/>
            <a:ext cx="357759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72%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9421B3-3033-4D1D-84B9-848DABEA0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495" y="2781300"/>
            <a:ext cx="70675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8C89A8-C3C2-414A-BA5E-AD8CF0777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4070" y="2828925"/>
            <a:ext cx="64960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14%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E5DD88-A303-474C-A600-362409D57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098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10/4/72/14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9C3FFF-31BB-4736-A6FC-AE84AF0E4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098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acc 75.1%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47FB930-8F10-48DC-B479-65496FED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80987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save 43.9%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01BB0E0-F8BA-425D-8769-2EF763FB0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099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random 150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F71BA7D-98CC-405F-A54D-F4FD4BEA5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29000"/>
            <a:ext cx="47117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26ED35C-C65B-4808-9E2F-C962EB212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476625"/>
            <a:ext cx="41402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9%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8DDB5D9-CE4E-4A6A-ADFB-9EB687484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5170" y="3429000"/>
            <a:ext cx="20193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4CDEECF-EF6A-4042-94A9-98D6D323A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7100" y="3429000"/>
            <a:ext cx="356743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6CB084F-A31A-42D3-ABCB-8051888B1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5675" y="3476625"/>
            <a:ext cx="351028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71%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FBDACB0-ACED-46B8-A357-38085AAB0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4530" y="3429000"/>
            <a:ext cx="80772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70B0DA4-1E5D-4353-88BD-A3F4254D1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3105" y="3476625"/>
            <a:ext cx="75057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16%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50DFF7C-47B5-4C95-A1B2-2089909EE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575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14/6/106/24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09412A2-2A53-4D1E-A895-6000351F1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4575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acc 72.2%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27D01C7-AC4C-4398-8BAE-36BBE02FD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45757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save 61.9%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AB2679A-0637-496D-81A0-95C0AB1C8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57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random 200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3E8249A-615A-4721-BDF3-D8FC13311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76700"/>
            <a:ext cx="479584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931E745-84F9-4B86-8700-567AACBC1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124325"/>
            <a:ext cx="422434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10%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DEC84E9-3BE1-407A-A81A-130C18D5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3584" y="4076700"/>
            <a:ext cx="227171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07701A1-4F80-4710-92B1-2A0B52129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0755" y="4076700"/>
            <a:ext cx="358425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DB31614-A3AD-43C0-ADAE-D2674FACC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9330" y="4124325"/>
            <a:ext cx="3527108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71%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D0BD24C-BAD0-4D86-9E1A-70A773BDC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5013" y="4076700"/>
            <a:ext cx="75723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9BB6569-14DF-4DF0-8C4A-251418FCB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3588" y="4124325"/>
            <a:ext cx="700088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15%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449BD01-4E9C-4D97-9C44-09F48C94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052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19/9/142/30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2B5B147-5602-4242-9BEE-1943F6266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1052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acc 72.2%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B302583-E61E-495E-B11D-1BEDCB3D5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10527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save 61.9%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2736A22-CD7A-4E95-9305-26215847F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244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Random50 had only 12% mini-only and 74% both-correct. That is why the random-control router saved more money but lost more accuracy than the critical-heavy size-50 split.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5793211-A3FB-4195-9090-A4F2C8B35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Sources: routing_split_half1_random_control_trainval*.json and routing_cost_comparison_testdata_hybrid_half1_random_control_trainval*.csv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71CDC8F-113F-4072-8A4C-0F341F68C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907959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740482-0570-4536-8BD5-E9D4EC47A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Bucket ablations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3021EB-243A-4DB3-BF4F-313617607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The size-50 ablations changed risk posture, not just sample count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1BD14A-1835-4B28-A2C5-30B862033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5A01C6-1B7E-4700-8A05-1C203F32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11001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80F182-B2AB-48A2-8E3E-65252553E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2181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Training mix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A4C362-90F0-418B-9864-D78F04C9B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857375"/>
            <a:ext cx="1276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M/N/B/W count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9C52CC-1649-4F83-899A-6A018F323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857375"/>
            <a:ext cx="12287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M/N/B/W share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906283-B890-427A-8ECC-478F7D22B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857375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Accuracy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639949-52A2-48EE-AE80-7F31FBCDA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57375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Savings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406674-384C-444B-BDB2-8C1F2C74B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57375"/>
            <a:ext cx="1038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test nano/mini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3E8DFF-57D4-46DC-AA0F-1E5AF965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857375"/>
            <a:ext cx="2800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Takeaway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7FACFD-A31D-4A7F-A292-31CCE65C3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0D38D2-DCC7-40A8-B22D-1B811F7B8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47900"/>
            <a:ext cx="2181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balancedish 50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3F10EA-77E0-44CE-A8CE-0E4AEC8D6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247900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13/9/14/14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F0DDBD-71BA-48A8-9F0E-4FED1387C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247900"/>
            <a:ext cx="1228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26/18/28/28%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A296E2-CED9-4658-A43D-1871120BE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24790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79.0%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B769F9-DBD1-4562-ADCC-510D77BA5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4790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24.3%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B8A089-060A-45E3-AA5C-5F23F737A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47900"/>
            <a:ext cx="1038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82/123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CE27B1-90E2-4707-8719-2BC0CE789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247900"/>
            <a:ext cx="280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Most balanced: 79.0% / 24.3%.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117DA9-BA1E-4C43-B8FC-5147881E2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05100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89B84A-1AB1-4EEF-9DED-783FD0E95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00350"/>
            <a:ext cx="2181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critical + both-correct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D94F20-2BE3-4282-B401-62E79E3D1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800350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19/0/31/0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32BA8F-8BC1-49D6-A666-61E4EC2C7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800350"/>
            <a:ext cx="1228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38/0/62/0%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E3EAD3-5177-404F-9B1D-C3520FBF7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0035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76.1%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E3D315-4151-4844-AB17-D70F34587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0035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34.7%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3AD9F2-BB53-4610-8508-B82F0377B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00350"/>
            <a:ext cx="1038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122/83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A8B553-08E2-4427-87FC-64A84298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80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Shifted risk posture.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A8D19D-571B-44B0-9FD2-4613A589F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18C05E-B494-4DFA-9D3C-2C0CEBBDD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52800"/>
            <a:ext cx="2181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critical + both-wrong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8CC3D4-8926-4B51-9766-09E0CC6F6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352800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19/0/0/31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6A2835-3486-4607-9CF4-29A84A3D7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352800"/>
            <a:ext cx="1228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38/0/0/62%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A08C28D-0E67-470D-9DB3-9548385DA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5280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78.0%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A4B91FF-5F77-4D71-B5EC-2EE373386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5280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24.4%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FE1DFDE-C8D6-4A77-9C29-041367161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52800"/>
            <a:ext cx="1038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85/120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2D5BF15-64FA-4D78-B047-E057B11CC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352800"/>
            <a:ext cx="280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More conservative, but limited savings.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7178430-955E-4B2C-BFA2-138F50285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0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31C5957-D985-4D0E-AD3D-AF5A54106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05250"/>
            <a:ext cx="2181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both-correct heavy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5BD04DF-D66B-4A99-B80E-A22A4414A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905250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5/0/40/5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C663AA4-368F-4CC0-AC06-98ED78774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905250"/>
            <a:ext cx="1228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10/0/80/10%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DBC691F-8B1F-4B62-AAA6-18835B5C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90525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72.2%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AF6D133-8B1F-4C48-8D15-D1183BB91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0525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59.9%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C4AB57E-3F1C-4711-87A4-64C22C30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05250"/>
            <a:ext cx="1038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185/20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7A0DB27-0E91-498C-8A7B-640D5FE8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905250"/>
            <a:ext cx="280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Too many cheap-safe examples pushed nano.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66694B9-DFBA-4D54-AF93-DE2490D0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2450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BC28C4C-463A-4F5F-A699-A9BBF7716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57700"/>
            <a:ext cx="2181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both-wrong heavy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15BE6B8-2949-499D-B95C-26BEDF8BB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457700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5/0/14/31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3AF4233-517F-4F1F-B4D9-2D5451A11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457700"/>
            <a:ext cx="1228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10/0/28/62%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3D01149-7BC7-4CD8-98B7-C01165C2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5770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74.6%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AD0A1A2-398F-416F-A971-C49B5A759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5770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47.3%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3937E0F-B3B4-48AC-B09B-1FEA56D99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57700"/>
            <a:ext cx="1038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157/48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679F652-051F-4571-AA63-D1D309B2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57700"/>
            <a:ext cx="280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Shifted risk posture.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2DC2904-BBFD-4338-B806-55A3DCEF7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22222"/>
                </a:solidFill>
              </a:defRPr>
            </a:pPr>
            <a:r>
              <a:rPr sz="1575" b="1">
                <a:solidFill>
                  <a:srgbClr val="222222"/>
                </a:solidFill>
              </a:rPr>
              <a:t>M/N/B/W = mini-only / nano-only / both-correct / both-wrong. The important lever was bucket mix, not merely optimizer choice.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EF3E4C0-CD6C-45FF-B747-9485917D0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Sources: gepa_router_prompt_result_hybrid_half1_ablation50_*.json and corresponding testdata CSV files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1A7BEFB-ABBB-4549-AF90-D89A542B8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5562034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40AEE2-5799-4CA7-B151-44040184E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Soft-prompt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2933CD-2729-4910-A8F0-098C73C35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The soft-prompt router turned routing into a small trainable classifier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9B5AAA-2C62-40BE-86C8-17134C43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CE773C-AE0F-410F-A2C6-7E80A68E3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18288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BA5C37-4373-45A8-A84D-C541B8457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717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F70E1F-CC6D-434B-A434-F11FDA060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86050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Build routing examples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87ADA2-A56F-48E6-8A26-D6390DE92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57550"/>
            <a:ext cx="14859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Each question is paired with mini/nano correctness and cost, then bucketed as mini-only, nano-only, both-correct, or both-wrong.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DF5DF8-7F9B-42A6-BA9C-6D3754CF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000250"/>
            <a:ext cx="18288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A8FCEA-4942-4B31-AE1C-B8D824250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1717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ECD5F5-7693-4267-A97A-30C31652A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686050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Format the input 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49A904-CC3F-4E43-A5D6-E5FEE5856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257550"/>
            <a:ext cx="14859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The encoder sees category, source, question, and answer options. These runs did not include the nano answer text.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95D4BF-4B88-4A92-A9EC-60466C8C1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000250"/>
            <a:ext cx="18288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12754D-E2CB-44DC-8DCA-C0F4317BA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1717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6B35"/>
                </a:solidFill>
              </a:defRPr>
            </a:pPr>
            <a:r>
              <a:rPr sz="2550" b="1">
                <a:solidFill>
                  <a:srgbClr val="FF6B35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3ACF2B-7957-4B53-BB07-BF6C04ADE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686050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Prepend soft tokens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114A52-E283-44AF-BD77-946673792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257550"/>
            <a:ext cx="14859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Sixteen learned embedding vectors are concatenated before the token embeddings; they are not readable words.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DC14E9-75D1-4BBA-B71D-2EE839F63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000250"/>
            <a:ext cx="18288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AE17C1-FC62-4F0D-9ED7-0A49D8F79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1717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C56A20-2D1C-4885-BE0D-E774E1C80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686050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Classify the route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3A97BB-06FF-4E8B-A5FD-0FB1909D4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257550"/>
            <a:ext cx="14859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The frozen encoder produces a representation, and a small linear head predicts nano vs mini.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055396-CE11-46DC-9ACD-44EBA7F0A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00250"/>
            <a:ext cx="18288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05C85C-D128-42A1-BDB1-20FC42E98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1717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2EEABA-022A-42A3-AFE1-101B74E15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686050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Apply a threshold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3FB653-2798-489A-B4F4-B18C0EA22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257550"/>
            <a:ext cx="14859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The mini probability is compared with a decision threshold; higher threshold routes more examples to nano.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753753-D927-4B3E-84EE-4F67AC81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The important shift from prompt GEPA: the policy is no longer a single text instruction. It becomes a learned probability score that can be calibrated after training.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3562E6-C5CD-44AC-8E76-A9A0624C4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Implementation: train_softprompt_router.py; SoftPromptRouter.forward prepends learned embeddings and thresholds the mini probability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395252-C2F9-4315-B3CB-02DC4AFB5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814919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FE4E04-C9C8-4C0F-B8CC-DCF2B271C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Soft-prompt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C2E861-5527-49E4-94EB-E991919FF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Backbone and training setup were intentionally small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FA6082-43DC-43B6-B93A-8C26060BE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88DE32-9EFC-427C-B075-F5578E747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1CD5DA-B15C-4415-8A1B-E194A2A60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Backbone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1F510D-4957-4EC4-BEC9-B678A23EC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6B35"/>
                </a:solidFill>
              </a:defRPr>
            </a:pPr>
            <a:r>
              <a:rPr sz="2925" b="1">
                <a:solidFill>
                  <a:srgbClr val="FF6B35"/>
                </a:solidFill>
              </a:rPr>
              <a:t>DistilBERT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E8A4C4-3858-4F3D-B48F-530A3DD81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2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distilbert-base-uncased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1033BA-FA8C-4510-8BCC-F8F5EC4C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752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771F5B-287A-4870-AE8E-9FD825E0D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905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Backbone update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92EE8C-4677-44E7-965E-B9621CEF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190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frozen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2E5865-2EFC-4587-97AF-5B032F896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2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train_backbone = false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C8412C-49AA-42C9-AA5B-062B8E6EC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752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C9B723-B335-4EBF-A705-F0AFF7A48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05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Soft tokens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3E4C15-0C2D-4C8C-A1C1-70CCBFF26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90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16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8BD763-6576-4F44-95A6-99360A627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2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learned prompt embeddings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5C3F94-D5CE-4F3F-9C20-6C87A09F1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6C91AA-43CC-4352-9C3D-810DAAFBF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905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Trainable params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B45CD9-B4CE-4A7A-9B0B-6EEC54586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90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6B35"/>
                </a:solidFill>
              </a:defRPr>
            </a:pPr>
            <a:r>
              <a:rPr sz="2925" b="1">
                <a:solidFill>
                  <a:srgbClr val="FF6B35"/>
                </a:solidFill>
              </a:rPr>
              <a:t>13.8k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764B14-8C49-4711-8F9E-55C6FCE2A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2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out of 66.4M total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1B040E-C440-45FB-9572-F799DACD7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00450"/>
            <a:ext cx="1076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99225D-AB8C-4162-8828-D2097F6BB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05225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Component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5D3FFC-1300-4F44-9C85-4220CB89C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705225"/>
            <a:ext cx="3848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What it did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CAF540-006E-47DB-99E6-6E8614F7B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05225"/>
            <a:ext cx="441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Key setting in best run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55443A-7EE4-4978-821B-C110C6B1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A2C0B3-C1F7-4DA3-93D9-566C21F67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957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Input encoder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BCAF43-3CD8-46DC-BB30-AA04516A4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095750"/>
            <a:ext cx="384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Tokenized question/options into a transformer sequence.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A2439E-AD8F-40D7-901D-4CE884D70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95750"/>
            <a:ext cx="441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max_length 384; no nano-answer text included.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E3028F-1EB2-44CD-A553-A5DE801EC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577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0407D5-209D-48EB-B180-EF3150044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529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Soft prompt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8DF125-29A5-43E1-BF09-188ACB9EA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552950"/>
            <a:ext cx="384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Added task-specific learned vectors before the real tokens.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6C5184-2A93-421A-9A9B-184A6CC1D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52950"/>
            <a:ext cx="441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16 vectors of DistilBERT hidden size.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D933D5F-77AD-4548-B4F7-9A5BC318B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149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3B25A7B-E0E8-4D8A-923E-664F9484E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0101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Classifier head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E07FF36-52DC-4FC4-A9FB-0EEFA53DD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010150"/>
            <a:ext cx="384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Mapped the encoder state to nano/mini logits.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521FAFE-78F9-4D7A-8901-BF2A87E17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10150"/>
            <a:ext cx="441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Linear layer over the first real token state after soft tokens.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B0CDDC7-76A2-4D52-A35E-F9C274395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721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9159EF6-0BA1-4917-80A9-6A2F9DFF6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4673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Training objective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D116890-E061-431D-AEB2-8DE1DDD4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467350"/>
            <a:ext cx="384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Optimized routing utility rather than just accuracy.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4176E0A-38DC-49DE-B0E5-152C92823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467350"/>
            <a:ext cx="441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expected_utility loss; target mini rate 0.25; mini penalty 0.4.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4B09BA0-3DC2-41DE-B4EC-C0C2E3DBD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293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70D9ECF-78BD-481A-9DD0-54A7CDFFB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245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Decision rule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9293C6E-6A3C-4B51-BE87-58C81B9EE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924550"/>
            <a:ext cx="384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Converted mini probability into a discrete route.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62891BC-306B-4F9A-8747-A3AADFFB2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924550"/>
            <a:ext cx="441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threshold 0.45 for the selected 205-test run.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9FA61DC-17BE-4D70-8D6E-6B5C81C91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Best-run args: hf_model distilbert-base-uncased, epochs 8, batch 8, learning_rate 0.01, train_backbone false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1288A5C-4D49-432F-B17A-AAF76737A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340345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4BE5D7-BE35-47F4-9515-5A4308E09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Soft-prompt follow-up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21C2C7-C213-41AD-84FE-6BAB1BD31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Soft prompt was added as a trainable router after the prompt sweeps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1E17D5-4380-44DE-A51A-8367A6486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47B7FF-5D5D-4034-A81F-AB11CF833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DB09FF-63D3-4CB2-AA40-F4B9C358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Model 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DBD602-14AB-4B46-930B-A5DE04189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frozen encoder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9B33B4-D073-4B04-9B9E-BD54693C5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2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trainable soft tokens + classifier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02DEBD-0AC4-4616-AE22-C9FDC0EE0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752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0ECBB6-70A6-4DD9-AC62-45D278DD5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905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Initial split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66C31C-7E85-4336-88F4-C748B5B55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190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40 / 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015B70-BFF6-4086-962E-DC29EEF15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2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same half1 trainval50 split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28896A-FD6C-482E-BF2C-368550F8C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752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DA2CC6-CD7C-477B-9A9C-F5A665B0B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05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Best heldout run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6F9FEB-BB25-4E6A-A086-3A9205846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90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6B35"/>
                </a:solidFill>
              </a:defRPr>
            </a:pPr>
            <a:r>
              <a:rPr sz="2925" b="1">
                <a:solidFill>
                  <a:srgbClr val="FF6B35"/>
                </a:solidFill>
              </a:rPr>
              <a:t>81.0%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CC142A-E8EF-4AF6-B9CA-85F8CACD9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2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205-test accuracy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6DE643-264D-4C39-864B-D6C7052F3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E1A73A-F35B-45F9-866C-2D7B158FA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905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Best savings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54C20E-178D-4C4B-8364-4BC0EA315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90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6B35"/>
                </a:solidFill>
              </a:defRPr>
            </a:pPr>
            <a:r>
              <a:rPr sz="2925" b="1">
                <a:solidFill>
                  <a:srgbClr val="FF6B35"/>
                </a:solidFill>
              </a:rPr>
              <a:t>40.6%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197AD9-366A-4130-97D0-FDA3FB871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2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95 nano / 110 mini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D52D06-F0A7-4216-A608-96D17D1E0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11191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F1569E-BCF9-4321-A068-8A0487164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81425"/>
            <a:ext cx="2705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Run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E8B45F-6996-49E6-922D-7FFBABED0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81425"/>
            <a:ext cx="752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train/val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1E1338-70A3-44B3-8BCC-F4BCA71D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7814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test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811C93-D972-4209-94C3-34A338EC1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781425"/>
            <a:ext cx="752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Accuracy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DE6F49-1CB6-41B3-9660-A16737D9E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81425"/>
            <a:ext cx="752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Savings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B064A7-80EE-4A5B-A785-783414960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781425"/>
            <a:ext cx="8477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nano/mini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EF870C-3014-448B-9474-E1FF06E16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781425"/>
            <a:ext cx="657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critical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B0881E-3FC9-4F8F-B5DC-1EB050F75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781425"/>
            <a:ext cx="2990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Interpretation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BF7FD0-A68E-484C-9892-B9A385E5E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7670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C4D8E9-31C8-4C60-80D1-40CFE2746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71950"/>
            <a:ext cx="2705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half1 trainval50 smoke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46D28E-D5BA-4C55-B604-96AC6ABC5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71950"/>
            <a:ext cx="752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40/10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33BA62-4C1D-4AFE-9257-762D7CDEB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171950"/>
            <a:ext cx="51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205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7043585-9B78-4185-8274-91043640D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171950"/>
            <a:ext cx="752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80.0%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643E6A6-2414-49A6-9BFC-ABB9F23BB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171950"/>
            <a:ext cx="752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5.3%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8405FB7-6E3F-4120-9704-3C725A48F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171950"/>
            <a:ext cx="847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14/191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06204B1-57B0-4EDE-A345-40454C8BB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171950"/>
            <a:ext cx="657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6CFD3BF-915E-4E1F-BA19-646F7AD1B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171950"/>
            <a:ext cx="2990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Accuracy-preserving, too conservative.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68ED30E-50A2-418F-A244-057A0D47F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2915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59DC2E2-37B8-43C4-874E-30D89D4D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24400"/>
            <a:ext cx="2705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balanced50 risk EU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9635CF6-0FD1-48AD-ACDB-E5E5A22A1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24400"/>
            <a:ext cx="752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38/12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2855F7A-3B01-4EFC-B6CD-4A6D6CBC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724400"/>
            <a:ext cx="51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205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8389E1F-7997-47B2-B760-E3BEEA011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724400"/>
            <a:ext cx="752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81.0%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B310869-3FC6-4CDC-A600-1667996B3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724400"/>
            <a:ext cx="752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40.6%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3A20636-77F5-49B7-9DA8-7BB4979D7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724400"/>
            <a:ext cx="847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95/110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66D96A6-583B-48F3-803C-A92547D34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724400"/>
            <a:ext cx="657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6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410D1ED-B3AC-47E4-8BC4-136FA945A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724400"/>
            <a:ext cx="2990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Best usable trade-off.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E66E03E-F9AF-4A25-B5FD-3682DB9BB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8160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E1D8405-6C85-4D26-9A49-23334AD67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76850"/>
            <a:ext cx="2705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first205 random50 risk EU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FB6815D-E420-48D3-A73B-2F058D353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76850"/>
            <a:ext cx="752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50/0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7CF3A75-B9FF-4893-84D9-27F967E7F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276850"/>
            <a:ext cx="51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205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348F5E5-610F-44C2-BF0B-242211EE1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276850"/>
            <a:ext cx="752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71.2%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9AA5B16-6261-4CBA-B9D6-240A511A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76850"/>
            <a:ext cx="752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63.4%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B6FFE95-1F85-41E7-82A6-66F788A32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276850"/>
            <a:ext cx="847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169/36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85915FA-CF9C-45BB-A82C-D06EFF447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276850"/>
            <a:ext cx="657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24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2BB85B1-A762-4007-976F-EC3C32C60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276850"/>
            <a:ext cx="2990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Cheap but unsafe.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C56B269-51AD-4022-9DD7-FF6F6ED91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Sources: softprompt_router_half1_trainval50_test_smoke.json, softprompt_router_balanced50_risk_best_expected_utility_test205.json, softprompt_router_first205_random50_seed0_risk_expected_utility.json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8528025-176C-460A-A4B0-197B78804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656541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236BCA-EA1A-405C-8450-00E329133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Threshold sweep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17BFB8-121C-41B5-AB7E-59179DAB6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The soft-prompt threshold exposed a smoother risk-cost frontier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FA8022-829E-4708-9433-FFB33C5DB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762372-EC4D-45D5-843B-09C5EC147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145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0.00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23A5AB-D1B2-4B4E-A49D-189F297E2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5262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6A1B15-62B1-4495-AA10-685535F7D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52625"/>
            <a:ext cx="2811463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BADF43-374B-4515-8594-811E8539E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0502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9053D3-0B1D-46F2-BAC4-62B7AB2DF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05025"/>
            <a:ext cx="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223F12-EAF7-4379-B253-67BCE58A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905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80.5%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20CD88-9E35-421B-8698-F45E4ACAE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0478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6B35"/>
                </a:solidFill>
              </a:defRPr>
            </a:pPr>
            <a:r>
              <a:rPr sz="900" b="0">
                <a:solidFill>
                  <a:srgbClr val="FF6B35"/>
                </a:solidFill>
              </a:rPr>
              <a:t>0.0%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DE8EBD-D73B-466D-BEA7-6C983FC71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145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0.25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9DD78B-8DE3-470A-B235-4569E6780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5267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47243F-8404-459E-AF73-627CB244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52675"/>
            <a:ext cx="28289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53D1E2-B157-4AA5-9D28-3127B0644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0507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D50109-81A9-4198-B84D-373A276E3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05075"/>
            <a:ext cx="373261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8F4864-B68C-445A-9B0A-13708A226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3050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81.0%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BE8175-D0B3-43B3-A990-82131FE3B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44792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6B35"/>
                </a:solidFill>
              </a:defRPr>
            </a:pPr>
            <a:r>
              <a:rPr sz="900" b="0">
                <a:solidFill>
                  <a:srgbClr val="FF6B35"/>
                </a:solidFill>
              </a:rPr>
              <a:t>9.5%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7057AA-4905-4D01-9960-660D00627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146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0.30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7D7FC8-CD00-4943-A5DF-AA64731A2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5272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4F552E-287A-4A04-9E84-35841893F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52725"/>
            <a:ext cx="28638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485F93-DC32-4680-BC3C-2A61B5B6C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0512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154A45-8E60-4661-B9EC-8F19843AE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05125"/>
            <a:ext cx="660083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160B0F-782F-48FB-89F9-9B8029DB3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7051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82.0%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662B54-3F8A-4144-8A67-52045488F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8479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6B35"/>
                </a:solidFill>
              </a:defRPr>
            </a:pPr>
            <a:r>
              <a:rPr sz="900" b="0">
                <a:solidFill>
                  <a:srgbClr val="FF6B35"/>
                </a:solidFill>
              </a:rPr>
              <a:t>16.8%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34CD57-F70B-4254-BD68-15D7ED9F1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146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0.35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92AFC9-3845-4998-A2AA-C54A6459D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5277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C1EF6F-1262-447C-BC74-0D8700DA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52775"/>
            <a:ext cx="28638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8F11AD-12B5-4F8F-818F-B0F42C004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0517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CA41B8-E28E-4C8D-81BF-964A34AD1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05175"/>
            <a:ext cx="966549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263C421-6A8A-4A21-8561-9AD9FD9CF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1051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82.0%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E8B66B-2714-4F8D-9758-281FC6D2C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24802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6B35"/>
                </a:solidFill>
              </a:defRPr>
            </a:pPr>
            <a:r>
              <a:rPr sz="900" b="0">
                <a:solidFill>
                  <a:srgbClr val="FF6B35"/>
                </a:solidFill>
              </a:rPr>
              <a:t>24.6%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AC8C7AC-3C4C-4C2B-A907-E661B4784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147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0.45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BD1C2B4-D396-402D-B3C4-9E9B4C1C2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5282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C9D3A4E-9961-46D9-B895-CFDD483C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52825"/>
            <a:ext cx="28289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6F5264F-06D0-4998-AC19-715CF8FBC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0522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6A57C14-7285-49BD-9F93-732998AFA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05225"/>
            <a:ext cx="1595199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2BFE15C-4FE8-4DEA-A811-47A80AC6E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5052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81.0%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51685CB-2DDE-4113-946A-2DFE7CC06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6480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6B35"/>
                </a:solidFill>
              </a:defRPr>
            </a:pPr>
            <a:r>
              <a:rPr sz="900" b="0">
                <a:solidFill>
                  <a:srgbClr val="FF6B35"/>
                </a:solidFill>
              </a:rPr>
              <a:t>40.6%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28E18B8-638C-4887-B101-296B4A0BC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09750"/>
            <a:ext cx="5000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C215E19-CC95-4D5F-8032-BA1EC0EA6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914525"/>
            <a:ext cx="752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Threshold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EFA3832-E038-4815-8FE0-CB0860689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91452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Accuracy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0722BFA-0D23-4B0B-8881-F471255C7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191452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Savings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C518642-F391-411B-86D2-9C811C796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1914525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nano/mini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7BDCB31-25B6-40F7-B9F5-83BC9745A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1914525"/>
            <a:ext cx="89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Mean score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DEBB90B-C048-4510-BD29-B6F0DD20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209800"/>
            <a:ext cx="5000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F7BF1EA-93A0-41EA-86E4-171BAA0FD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305050"/>
            <a:ext cx="752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0.00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3252A6D-0FBB-4553-9B39-4D0FE173E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3050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80.5%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8D8F608-C861-480B-90EF-04656A09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3050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0.0%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51C72ED-D7A9-4F4D-A644-B42A18E5A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305050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0/205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892FBB6-92FA-45DD-958D-FB4A12E58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305050"/>
            <a:ext cx="895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0.387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3188452-078A-40CD-9C46-D8EE24F33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705100"/>
            <a:ext cx="5000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8D1B59E-2BB6-4A89-A161-5F0B4C8E1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800350"/>
            <a:ext cx="752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0.25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7C0A3CC-11D4-4821-A31B-25BF5F970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8003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81.0%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47F1045-C070-4633-ABEC-CBBB06AFC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8003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9.5%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D0F7CBD-00EA-4108-8CDA-6007D0542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800350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29/176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AACD444-7005-4144-B0C5-554417A47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800350"/>
            <a:ext cx="895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0.460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7F9830D-8670-489D-9147-3942B5343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200400"/>
            <a:ext cx="5000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B52EA21-21A0-4077-8341-AAA89F87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295650"/>
            <a:ext cx="752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0.30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3923D33-A620-48F8-B095-5C7F3171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2956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82.0%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CF215DF-CFD5-4C71-A33A-7CD92E06E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2956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16.8%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E8A692A-CD3B-463D-9395-1E5B6CA85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295650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46/159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550A97D-2ECA-4188-9BB9-51266DDD7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295650"/>
            <a:ext cx="895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0.505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66D0723-55DC-4242-8FC3-3DB981329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695700"/>
            <a:ext cx="5000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4DD53F3-51F9-48E3-9440-BB9865F91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790950"/>
            <a:ext cx="752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0.35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FD954E2-3C4A-4D3C-8272-D09DB4FB5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7909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82.0%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E00334F-F4A8-44CE-ACD5-84B12AD3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7909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24.6%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B1F18FF-D4C4-43F9-B48F-81BBA0FBB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790950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66/139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647F804-C474-4D89-BD47-4938B9F5C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790950"/>
            <a:ext cx="895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0.551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8A0A4CB-ED25-4E2E-9BD6-AC9BC55FD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91000"/>
            <a:ext cx="5000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FA10218-B938-4FFA-9715-066EDA666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286250"/>
            <a:ext cx="752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0.45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5E77127-EE67-4611-8ADC-FA91F9DC4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2862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81.0%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7C0CA5C-ADE5-408A-A5D6-CF173F0F5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2862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40.6%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A289872-2ACF-459C-91CA-A87241237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286250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95/110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5858142-26B3-41DE-A89A-813FF5E3A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286250"/>
            <a:ext cx="895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0.556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8906CCE-6EC4-45C7-9BD2-878665391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Unlike a single prompt, the soft-prompt router can move along a threshold curve. The selected 0.45 point traded one accuracy point for a much larger cost reduction.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AFAF2D8-BAAD-4113-B889-E8045B736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Threshold rows from softprompt_router_balanced50_risk_best_expected_utility_test205.json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25B61B1-AD0E-47A0-8159-5A05427C4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3664939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B05F85-A1BE-457A-9F6F-E1078AAB9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Takeaways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7FD56C-B57A-4335-84C4-4A8114FED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What the combined story says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73DAF7-3FD8-45A6-82BB-19345D8EA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B21F25-F347-4C9E-9A27-A9BB7A703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1076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0DFFC8-AED0-4256-8F56-71C7666C9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3086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Finding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1B6E02-1FEC-4AA7-89FF-14DEFEC50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57375"/>
            <a:ext cx="3276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9B35BD-CAC7-4C04-BE21-661FF9EC8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57375"/>
            <a:ext cx="3943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Implication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0E5CFB-2B7D-4667-9268-01C5CD14C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5A4788-A8D1-4BFD-99D6-042F506EC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47900"/>
            <a:ext cx="3086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Data mix dominated the prompt-router behavior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B1F1C1-D0C3-4713-B579-3D4A4F5F1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47900"/>
            <a:ext cx="3276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mini-only share fell from 76.0% to 9.5% across the size sweep.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990E48-0E7E-409A-B223-A7F2A2AA0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47900"/>
            <a:ext cx="3943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Do not treat larger train/val size as automatically better.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B53B61-C1C6-478F-AF16-F9AC7C3C5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956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B1BCD5-7A00-40E0-BDA0-19AE7F35A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90850"/>
            <a:ext cx="3086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Size 50 remained the clean prompt-router anchor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4D8C3A-F844-4C0C-BAD1-28A82BE27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90850"/>
            <a:ext cx="3276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80.0% accuracy, 12.6% savings, 45/160 routes.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4892B8-E830-466E-84B9-D7C7F0D1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90850"/>
            <a:ext cx="3943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It preserved accuracy because critical examples were over-represented.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6A595E-1587-4941-B615-CF5CAC058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385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876D2B-4B5B-45C8-BB1E-F4D38A1A5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33800"/>
            <a:ext cx="3086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B35"/>
                </a:solidFill>
              </a:defRPr>
            </a:pPr>
            <a:r>
              <a:rPr sz="1275" b="1">
                <a:solidFill>
                  <a:srgbClr val="FF6B35"/>
                </a:solidFill>
              </a:rPr>
              <a:t>Soft prompt improved the trade-off frontier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C36197-AEEB-4751-BF73-5B1843506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33800"/>
            <a:ext cx="3276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B35"/>
                </a:solidFill>
              </a:defRPr>
            </a:pPr>
            <a:r>
              <a:rPr sz="1275" b="1">
                <a:solidFill>
                  <a:srgbClr val="FF6B35"/>
                </a:solidFill>
              </a:rPr>
              <a:t>81.0% accuracy, 40.6% savings, 95/110 routes.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1DCFE9-9E2E-4C73-B8CB-3D07C1684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33800"/>
            <a:ext cx="3943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B35"/>
                </a:solidFill>
              </a:defRPr>
            </a:pPr>
            <a:r>
              <a:rPr sz="1275" b="1">
                <a:solidFill>
                  <a:srgbClr val="FF6B35"/>
                </a:solidFill>
              </a:rPr>
              <a:t>Trainable thresholding was more useful than another static prompt variant.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88D3FC-8710-4E12-BA57-3B32E71E5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38E321-0B8C-4F4F-BB52-B55618B56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76750"/>
            <a:ext cx="3086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Random soft prompt was unsafe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EB4CC1-61CC-4943-9367-48102F3EF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76750"/>
            <a:ext cx="3276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71.2% accuracy, 63.4% savings, 24 critical misroutes.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21DCE6-A215-4E95-914D-FA8F2BECA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476750"/>
            <a:ext cx="3943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The training mix still matters even with a learned router.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F9E197-C704-4CF3-B22B-D793B6789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22222"/>
                </a:solidFill>
              </a:defRPr>
            </a:pPr>
            <a:r>
              <a:rPr sz="1575" b="1">
                <a:solidFill>
                  <a:srgbClr val="222222"/>
                </a:solidFill>
              </a:rPr>
              <a:t>Next experiment: keep the fixed 205-test set, sweep bucket mix and soft-prompt threshold together, and report accuracy loss, cost savings, and critical misroutes as a single scorecard.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9AA29E-8322-4FCC-A5D4-ED3283310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Scope: first-half 205 train/validation experiments plus later soft-prompt follow-up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C0CB35-7AB6-4283-A897-28E933681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2461050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620432-6242-4885-9AB9-287C05FF1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Related-work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5DEA88-63CE-4A1C-A5AD-9CA04FA12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Next, compare against established routing baselines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ECCA60-A679-48F1-A9CE-B8843C656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57B8A7-294C-4051-9792-3F35C522E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11391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61406E-FC60-4457-A2BC-04B1761D3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1562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DD7739-1FF1-400E-B317-220F59649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857375"/>
            <a:ext cx="2990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Core routing signal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860443-0DEA-4F12-B5D3-2ECBDF2CD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857375"/>
            <a:ext cx="3848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Matched reproduction on our split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591692-4454-4F73-9081-AF8A14383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85737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Fairness control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F1ED26-6924-470C-81F2-D5D5680ED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65EE59-77EB-4CB8-AEB1-9CFBA9890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47900"/>
            <a:ext cx="1562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FrugalGPT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23B0F5-8A53-47DF-8977-8DCF7E88F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247900"/>
            <a:ext cx="2990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Learned cascade and scoring functions.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03C928-4A01-4748-A21B-A2FF9A7A4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247900"/>
            <a:ext cx="3848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Adapt a nano-to-mini cascade to the same first-205 / second-205 split.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AC56E1-2386-4316-BC91-CFABD8AC7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24790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Count every cascade call.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F7D657-7A3E-4DD1-9896-8D663E65D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003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442E9B-5482-482F-B4CB-F63855021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95600"/>
            <a:ext cx="1562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AutoMix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EF3855-E0E6-41C5-8A3D-3BF4BCB7C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895600"/>
            <a:ext cx="2990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Nano answer, self-verification, then POMDP routing.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6C2986-3582-492E-B1E9-E0A721BA1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95600"/>
            <a:ext cx="3848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Run nano generation and verification before optional mini escalation.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7EE70B-90AC-4324-BE05-C0E445945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9560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Include verification cost and latency.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761A7F-8E8F-4A20-A60E-9B1C18515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480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FB9DFB-BC14-48E1-95F6-F22085DB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43300"/>
            <a:ext cx="1562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RouteLLM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388ECA-1929-460E-8A3D-846DB7CD9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543300"/>
            <a:ext cx="2990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Preference-trained strong-vs-weak router.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F808FF-D5CE-48A4-972F-6009439C0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543300"/>
            <a:ext cx="3848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Train with the same first-half label budget and the fixed mini/nano pair.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B0EE99-BD8C-47BE-8EE4-B221B194A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54330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Match data budget and threshold.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508A10-BFC6-4024-A227-C23D15972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E71A02-CC40-459F-8F21-DDC37F2DC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0"/>
            <a:ext cx="1562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BARGAIN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DAA17C-FBB5-465C-BD1B-46F9CEEFB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191000"/>
            <a:ext cx="2990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Proxy logprob threshold with a statistical quality target.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5A2C28-80B1-443B-BF23-08961AEBF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191000"/>
            <a:ext cx="3848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Calibrate nano confidence against mini on first 205; test on second 205.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6A99DD-B626-4431-A7C6-B0D22DB68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19100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Report mini agreement and gold accuracy.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6E6E72-96E6-4D6E-9BA8-545BF07B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434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7B16F5-1B1A-4D61-8C87-B2E092448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38700"/>
            <a:ext cx="1562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Our method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C732F21-CF01-4A04-AAFD-E54BE56E3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838700"/>
            <a:ext cx="2990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Critical-case active sampling plus prompt or soft-prompt routing.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5243E62-62FE-4DA3-9A30-D53B7F6F8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838700"/>
            <a:ext cx="3848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One-shot nano/mini decision optimized for expected utility.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80291B3-CCDC-4B15-9FF1-F43BCC248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83870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Reference accuracy, savings, and critical misroutes.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C484C66-F335-4B2B-BFC6-FADB8566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816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22222"/>
                </a:solidFill>
              </a:defRPr>
            </a:pPr>
            <a:r>
              <a:rPr sz="1575" b="1">
                <a:solidFill>
                  <a:srgbClr val="222222"/>
                </a:solidFill>
              </a:rPr>
              <a:t>Common scorecard: fixed second-half 205, end-to-end cost per 1k, accuracy, nano/mini mix, and critical misroutes.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EB9FF73-F8CA-4AEA-84BB-320359B86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Related work: FrugalGPT (2305.05176), AutoMix (2310.12963), RouteLLM (2406.18665), BARGAIN (2509.02896)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D0B431D-8DC6-45C6-8425-BF6EC1891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6611379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2026-07-14T18:43:29.0020000Z</dcterms:created>
  <dcterms:modified xsi:type="dcterms:W3CDTF">2026-07-14T18:43:29.0020000Z</dcterms:modified>
</coreProperties>
</file>