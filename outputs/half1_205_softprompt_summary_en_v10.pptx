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b17090164d4158" /><Relationship Type="http://schemas.openxmlformats.org/officeDocument/2006/relationships/extended-properties" Target="/docProps/app.xml" Id="R5ef47824670a4f8e" /><Relationship Type="http://schemas.openxmlformats.org/officeDocument/2006/relationships/officeDocument" Target="/ppt/presentation.xml" Id="Rb0d76bbf71b743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4835991d5b46b9"/>
  </p:sldMasterIdLst>
  <p:notesMasterIdLst>
    <p:notesMasterId xmlns:r="http://schemas.openxmlformats.org/officeDocument/2006/relationships" r:id="Ra44e6ad442d84539"/>
  </p:notesMasterIdLst>
  <p:sldIdLst>
    <p:sldId xmlns:r="http://schemas.openxmlformats.org/officeDocument/2006/relationships" id="256" r:id="Rbad760968d754bcc"/>
    <p:sldId xmlns:r="http://schemas.openxmlformats.org/officeDocument/2006/relationships" id="257" r:id="Ra5ae63fed95641e1"/>
    <p:sldId xmlns:r="http://schemas.openxmlformats.org/officeDocument/2006/relationships" id="258" r:id="R4ec75acebd414b2d"/>
    <p:sldId xmlns:r="http://schemas.openxmlformats.org/officeDocument/2006/relationships" id="259" r:id="R932467b5fc754be4"/>
    <p:sldId xmlns:r="http://schemas.openxmlformats.org/officeDocument/2006/relationships" id="260" r:id="R9a81dc8082bb4532"/>
    <p:sldId xmlns:r="http://schemas.openxmlformats.org/officeDocument/2006/relationships" id="261" r:id="Re57c6e244df045a5"/>
    <p:sldId xmlns:r="http://schemas.openxmlformats.org/officeDocument/2006/relationships" id="262" r:id="Rcd3f8bd2e5bf4f3b"/>
    <p:sldId xmlns:r="http://schemas.openxmlformats.org/officeDocument/2006/relationships" id="263" r:id="R14e70e5cf8b3490a"/>
    <p:sldId xmlns:r="http://schemas.openxmlformats.org/officeDocument/2006/relationships" id="264" r:id="R3306f64481a0490e"/>
    <p:sldId xmlns:r="http://schemas.openxmlformats.org/officeDocument/2006/relationships" id="265" r:id="R26268de1a2414b09"/>
    <p:sldId xmlns:r="http://schemas.openxmlformats.org/officeDocument/2006/relationships" id="266" r:id="R06a4e5c45a554328"/>
    <p:sldId xmlns:r="http://schemas.openxmlformats.org/officeDocument/2006/relationships" id="267" r:id="R1bb780e6a1a14ea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aede0276914b16" /><Relationship Type="http://schemas.openxmlformats.org/officeDocument/2006/relationships/slideMaster" Target="/ppt/slideMasters/slideMaster1.xml" Id="Re04835991d5b46b9" /><Relationship Type="http://schemas.openxmlformats.org/officeDocument/2006/relationships/notesMaster" Target="/ppt/notesMasters/notesMaster1.xml" Id="Ra44e6ad442d84539" /><Relationship Type="http://schemas.openxmlformats.org/officeDocument/2006/relationships/presProps" Target="/ppt/presProps.xml" Id="R6b25c87ee23c444d" /><Relationship Type="http://schemas.openxmlformats.org/officeDocument/2006/relationships/tableStyles" Target="/ppt/tableStyles.xml" Id="R1e2e6a5b8e2e41b2" /><Relationship Type="http://schemas.openxmlformats.org/officeDocument/2006/relationships/slide" Target="/ppt/slides/slide1.xml" Id="Rbad760968d754bcc" /><Relationship Type="http://schemas.openxmlformats.org/officeDocument/2006/relationships/slide" Target="/ppt/slides/slide2.xml" Id="Ra5ae63fed95641e1" /><Relationship Type="http://schemas.openxmlformats.org/officeDocument/2006/relationships/slide" Target="/ppt/slides/slide3.xml" Id="R4ec75acebd414b2d" /><Relationship Type="http://schemas.openxmlformats.org/officeDocument/2006/relationships/slide" Target="/ppt/slides/slide4.xml" Id="R932467b5fc754be4" /><Relationship Type="http://schemas.openxmlformats.org/officeDocument/2006/relationships/slide" Target="/ppt/slides/slide5.xml" Id="R9a81dc8082bb4532" /><Relationship Type="http://schemas.openxmlformats.org/officeDocument/2006/relationships/slide" Target="/ppt/slides/slide6.xml" Id="Re57c6e244df045a5" /><Relationship Type="http://schemas.openxmlformats.org/officeDocument/2006/relationships/slide" Target="/ppt/slides/slide7.xml" Id="Rcd3f8bd2e5bf4f3b" /><Relationship Type="http://schemas.openxmlformats.org/officeDocument/2006/relationships/slide" Target="/ppt/slides/slide8.xml" Id="R14e70e5cf8b3490a" /><Relationship Type="http://schemas.openxmlformats.org/officeDocument/2006/relationships/slide" Target="/ppt/slides/slide9.xml" Id="R3306f64481a0490e" /><Relationship Type="http://schemas.openxmlformats.org/officeDocument/2006/relationships/slide" Target="/ppt/slides/slide10.xml" Id="R26268de1a2414b09" /><Relationship Type="http://schemas.openxmlformats.org/officeDocument/2006/relationships/slide" Target="/ppt/slides/slide11.xml" Id="R06a4e5c45a554328" /><Relationship Type="http://schemas.openxmlformats.org/officeDocument/2006/relationships/slide" Target="/ppt/slides/slide12.xml" Id="R1bb780e6a1a14e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efc63dfc9e4a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f46de0e8194391" /><Relationship Type="http://schemas.openxmlformats.org/officeDocument/2006/relationships/notesMaster" Target="/ppt/notesMasters/notesMaster1.xml" Id="R032966b46c344f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4a2284955f4b6a" /><Relationship Type="http://schemas.openxmlformats.org/officeDocument/2006/relationships/notesMaster" Target="/ppt/notesMasters/notesMaster1.xml" Id="Rfecd653f12644c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e10d6494004aa4" /><Relationship Type="http://schemas.openxmlformats.org/officeDocument/2006/relationships/notesMaster" Target="/ppt/notesMasters/notesMaster1.xml" Id="Re6438561c8154f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9ff006aff44609" /><Relationship Type="http://schemas.openxmlformats.org/officeDocument/2006/relationships/notesMaster" Target="/ppt/notesMasters/notesMaster1.xml" Id="R53666e7a7e5041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361488c26243ab" /><Relationship Type="http://schemas.openxmlformats.org/officeDocument/2006/relationships/notesMaster" Target="/ppt/notesMasters/notesMaster1.xml" Id="R87fb33a58c1749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c731489834460d" /><Relationship Type="http://schemas.openxmlformats.org/officeDocument/2006/relationships/notesMaster" Target="/ppt/notesMasters/notesMaster1.xml" Id="R2cb6a250394a46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f06e138eb445a3" /><Relationship Type="http://schemas.openxmlformats.org/officeDocument/2006/relationships/notesMaster" Target="/ppt/notesMasters/notesMaster1.xml" Id="R0680a4c2dd0a4e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9ac1cf85b64997" /><Relationship Type="http://schemas.openxmlformats.org/officeDocument/2006/relationships/notesMaster" Target="/ppt/notesMasters/notesMaster1.xml" Id="R69355a5ddbb6453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03e1b163484372" /><Relationship Type="http://schemas.openxmlformats.org/officeDocument/2006/relationships/notesMaster" Target="/ppt/notesMasters/notesMaster1.xml" Id="R2268db87a2694ec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b30e0e108654139" /><Relationship Type="http://schemas.openxmlformats.org/officeDocument/2006/relationships/notesMaster" Target="/ppt/notesMasters/notesMaster1.xml" Id="Rf7c8081ab7fc4fe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f9dccb6f00e4153" /><Relationship Type="http://schemas.openxmlformats.org/officeDocument/2006/relationships/notesMaster" Target="/ppt/notesMasters/notesMaster1.xml" Id="R45e56686242840a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0fa3646c17942fa" /><Relationship Type="http://schemas.openxmlformats.org/officeDocument/2006/relationships/notesMaster" Target="/ppt/notesMasters/notesMaster1.xml" Id="R8e5c16241d7a42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60a440ff3a44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03e0ec681b41e3" /><Relationship Type="http://schemas.openxmlformats.org/officeDocument/2006/relationships/slideLayout" Target="/ppt/slideLayouts/slideLayout1.xml" Id="R562b5f3e60f645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2b5f3e60f645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8e578039342b6" /><Relationship Type="http://schemas.openxmlformats.org/officeDocument/2006/relationships/notesSlide" Target="/ppt/notesSlides/notesSlide1.xml" Id="Rc893227d5b9a4c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ff7b97d1a34e1c" /><Relationship Type="http://schemas.openxmlformats.org/officeDocument/2006/relationships/notesSlide" Target="/ppt/notesSlides/notesSlide2.xml" Id="R006118ab8db84e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2336da72ce4000" /><Relationship Type="http://schemas.openxmlformats.org/officeDocument/2006/relationships/notesSlide" Target="/ppt/notesSlides/notesSlide3.xml" Id="R29a0159a97ee4a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d7e35f982a46d7" /><Relationship Type="http://schemas.openxmlformats.org/officeDocument/2006/relationships/notesSlide" Target="/ppt/notesSlides/notesSlide4.xml" Id="Re24cb65a544a4c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aa228adf04496b" /><Relationship Type="http://schemas.openxmlformats.org/officeDocument/2006/relationships/notesSlide" Target="/ppt/notesSlides/notesSlide5.xml" Id="R7bc23b54c18541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a4fca2398f4c8b" /><Relationship Type="http://schemas.openxmlformats.org/officeDocument/2006/relationships/notesSlide" Target="/ppt/notesSlides/notesSlide6.xml" Id="Rd0e6b2e4233f4e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915cb9e2a84e47" /><Relationship Type="http://schemas.openxmlformats.org/officeDocument/2006/relationships/notesSlide" Target="/ppt/notesSlides/notesSlide7.xml" Id="R67995495159f4e3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be219326e4565" /><Relationship Type="http://schemas.openxmlformats.org/officeDocument/2006/relationships/notesSlide" Target="/ppt/notesSlides/notesSlide8.xml" Id="Rf2c31b9d4ece484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c0a56b50247ed" /><Relationship Type="http://schemas.openxmlformats.org/officeDocument/2006/relationships/notesSlide" Target="/ppt/notesSlides/notesSlide9.xml" Id="R128f73f8bc404ff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c7e4da73764352" /><Relationship Type="http://schemas.openxmlformats.org/officeDocument/2006/relationships/notesSlide" Target="/ppt/notesSlides/notesSlide10.xml" Id="Re775f1d99471418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96c9d5193a4ef5" /><Relationship Type="http://schemas.openxmlformats.org/officeDocument/2006/relationships/notesSlide" Target="/ppt/notesSlides/notesSlide11.xml" Id="Rd6ad366df2f440c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787cfadd194719" /><Relationship Type="http://schemas.openxmlformats.org/officeDocument/2006/relationships/notesSlide" Target="/ppt/notesSlides/notesSlide12.xml" Id="R65eb3c97d6da41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858E20-4F47-4653-9212-9F6E063C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885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222222"/>
                </a:solidFill>
              </a:defRPr>
            </a:pPr>
            <a:r>
              <a:rPr sz="4200" b="1">
                <a:solidFill>
                  <a:srgbClr val="222222"/>
                </a:solidFill>
              </a:rPr>
              <a:t>First-half 205 experiments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C9E199-059B-46D7-B788-F31A38C2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</a:defRPr>
            </a:pPr>
            <a:r>
              <a:rPr sz="1950" b="0">
                <a:solidFill>
                  <a:srgbClr val="222222"/>
                </a:solidFill>
              </a:rPr>
              <a:t>Model routing on computer-science multiple-choice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B7B10A-DAFA-4119-B307-71B92715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B7C712-132B-4A00-899B-318DD161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E5A35E-8665-4115-988B-A041C516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69BC5C-D3FB-4A97-9D3C-DC822F9F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routing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E7794D-8D6C-488D-81F9-DD7947EF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67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select one model per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CBD38A-1A1D-4A57-88F3-80C9D4A5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95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700FE4-ADF0-4937-89E8-051AE68D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048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Dataset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99A598-D879-4EBA-9028-D2028677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33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410 MCQs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5B3DFC-79DD-4C2B-94B7-B8A8CF4A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867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computer-science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198452-1657-4681-AB3F-84473442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95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57E141-73AC-4E6E-B41B-04550E7A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48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GPT-4o mini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C83EB7-E245-47E6-990F-54850648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33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stronger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9B2198-C6D5-4D7F-9D22-9D5053B5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67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higher accuracy, higher cost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5BFE0D-F195-4594-A320-F7DA973C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95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2C56FB-48F9-4106-AA00-DC6EF702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48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GPT-4o nano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2485BA-9AE3-43D7-B336-5E8422C5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33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cheaper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5202B0-6A70-4609-8693-37818B97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67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lower cost, lower accuracy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A0E78C-2E9B-4CB4-B548-3D07FC7B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339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Goal: preserve answer accuracy while reducing cost. Train and validate on the first 205 questions, then evaluate every router on the fixed second-half 205-question test set.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979717-343E-4383-9972-3300A5CE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Sources: routing_split_half1_*.json, gepa_router_prompt_result_hybrid_half1_*.json, routing_cost_comparison_testdata_hybrid_half1_*.csv, softprompt_router_*.json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117C03-7961-4E87-8D7D-59B33CAB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687007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DAF5D2-2967-4E15-B768-2C08A0CA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205/205 framing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6BB1B2-45F0-47FA-9C36-C433A923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The fixed test set offers substantial cost savings through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D88207-E839-4463-A3F4-C69DDC4D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78EA61-A849-4ECA-8BCB-704CACC0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E2904E-6C0C-4566-A0C0-377986B6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test mini-only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058E99-5F0E-44BB-8308-4A20CEB7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FA0CD9-C721-45FF-9D83-CF1F4584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12.7%; must escalate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E68C6E-A293-4B14-B02B-65CDDB29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75260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EEA9A6-949F-4AD6-8EC2-CC74233F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9050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test both-correct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73B851-3449-4135-B3AB-A736377C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907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139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CAE99F-6A73-4AE9-B1EF-FBBEC034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241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67.8%; can be cheap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8949E7-4976-4A74-A574-7ABDB06A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5260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5D4D99-D7C1-4601-84D9-B515C9F1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9050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test both-wrong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104431-EC99-4D58-BF15-BBBE6BB1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1907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33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AEC57F-DBB1-4C72-A624-A52DDFE7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241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16.1%; no route fixes 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8219AA-3B01-4730-8136-C44C079A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5260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824D4B-0820-4322-BB55-F9ADCD22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050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oracle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DC230F-F4F4-4AB6-9B2F-08208EE7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907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83.9%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D2EF05-3B4B-462D-8151-8A1272FC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241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179 nano / 26 mini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C6A9A0-015F-4B14-976A-E76CB8BE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1076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CB7E3B-AFD7-48BB-83B3-7EF3CF30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00475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Policy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97453B-93C0-439B-AD2D-DCF39728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0047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Accuracy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B022F6-2E20-436E-95AA-253454BC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0047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Cost / 1k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5CC427-04E6-49B2-B05F-A8C34BE8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0047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Savings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97EDDA-F545-4ED7-8AF6-F793022A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0047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nano/mini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33C1FE-3EE4-4601-8C9C-B8BF31D5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00475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Meaning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3ADC2D-0256-47E7-9CF5-E9FC5A86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96F39B-2A7D-4F6A-AC76-D2A7ED3F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all-mini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FBA452-93B9-445D-8E48-C3D74279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910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80.5%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F63139-AE95-47CA-9829-F8F2D259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910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$1.124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ABC7DB-D6B1-47AF-BFB5-7CF96A1A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19100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9BB163-C22C-4BD8-ABC2-07B9C646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910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0/205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3501E4-B17E-43D9-82E5-892AB73A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910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Accuracy baseline.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6967FC-5901-45E4-BE60-0A06ACA7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01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3F8C17-DEF8-4C40-ABE2-3987D15D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0535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all-nano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6DE2D2-A0A6-4938-BAF7-4300D282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0535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71.2%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B7C2DB-B8E3-41D1-8B86-A376E153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053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$0.291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35AA31A-2110-44BB-9F4D-55800A75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0535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74.1%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E0C76A-E347-4E8C-BC28-03A8FB9A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053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205/0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D7EEC3-1330-4BDD-AC2A-BA3710A4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0535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Cheap, but loses 9.3 points.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A40CA9B-B847-4D7E-A652-AE814E76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E4B5083-1D6C-4334-A15F-DF5A0181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1970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oracle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0420D8A-27AA-4794-A33E-662BC0D8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197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83.9%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D013159-76BB-41B4-AEBA-AA91CB4F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2197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$0.402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F645C48-4093-4BBD-8978-BB2D20F3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21970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64.2%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C30881F-E008-4B43-BEA3-571BF7DE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179/26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F6108C9-BB95-408E-BAAD-7BD20A3A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197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Large theoretical room because most items are both-correct.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7ED71A9-1858-4245-B902-3CC3A19A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Fixed test outcomes: mini-only 26, nano-only 7, both-correct 139, both-wrong 33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C577720-2870-4ED3-A401-5B619EE7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09788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D854B5-3530-4743-85C3-6AA793E6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Why active sampling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C552ED-29C4-48DC-9286-42005EEC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Critical cases carry the routing signal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327383-7A6D-4EB1-B8B6-01B542B7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981886-3F5F-4EBE-BED5-9C76AB4F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A critical case is one where the models disagree. Agreement cases reveal little about which route to choose; disagreement cases expose the decision boundary.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8A7C8C-01D2-46DD-B7D1-E687427A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5257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D7361A-C748-40C0-AC51-EA997B3F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MINI-ONLY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5CBFBE-B6E3-4F45-869B-2ABBEBDA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985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2222"/>
                </a:solidFill>
              </a:defRPr>
            </a:pPr>
            <a:r>
              <a:rPr sz="1875" b="1">
                <a:solidFill>
                  <a:srgbClr val="222222"/>
                </a:solidFill>
              </a:rPr>
              <a:t>mini correct / nano wrong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7D225C-0E83-4827-9DA0-F0A5FC5C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466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Escalation is necessary to preserve accuracy.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CFB120-713F-4B14-B2DD-8A626CD3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209800"/>
            <a:ext cx="5257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A4D0FC-8E60-4652-958B-916F241B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431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80ED"/>
                </a:solidFill>
              </a:defRPr>
            </a:pPr>
            <a:r>
              <a:rPr sz="1200" b="1">
                <a:solidFill>
                  <a:srgbClr val="2F80ED"/>
                </a:solidFill>
              </a:rPr>
              <a:t>NANO-ONLY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CE3E49-8214-4D16-AA37-958B2850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0985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2222"/>
                </a:solidFill>
              </a:defRPr>
            </a:pPr>
            <a:r>
              <a:rPr sz="1875" b="1">
                <a:solidFill>
                  <a:srgbClr val="222222"/>
                </a:solidFill>
              </a:rPr>
              <a:t>nano correct / mini wrong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FE79CD-0C68-4D55-AE1C-2844F12C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52750"/>
            <a:ext cx="466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The cheaper route is also the better route.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6970ED-9888-467C-B7C2-E4D1B2D9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11391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FE8A36-7917-4C17-8527-4EA72BA2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29025"/>
            <a:ext cx="2228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Size-50 sampling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EB250A-9278-4140-9844-287522B4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2902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mini-only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15CCA6-5A0B-4EC9-AC3F-53C8CA73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2902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nano-only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E52CF3-6B2E-46B6-A142-5C502B44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2902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critical share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25F95B-CCA0-4933-B6D7-1A0EFCC0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29025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both-correct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7EC64D-487C-4CEC-AAEA-CD75A12F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2902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Test accuracy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387351-2CEA-497C-A5F7-3C3F1A27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2902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Savings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DA4F07-5240-4AA4-A83B-F1231234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6C9A4D-9074-47DC-8B11-088BE89C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1955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actively selected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955916-8B25-4BFA-AE57-2C3149B5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1955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19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B77B00-44D9-4F44-A9AF-44D4A863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1955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6CF62A-222A-4867-97D4-25F269E3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195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40%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10E2A4-12F8-45C2-9442-0A820D82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195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40%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844967-3ADC-467F-8252-8C3C93E9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195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80.0%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843E09-C92F-4E69-A676-DE6FCDEB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195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12.6%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204ABC-0B2F-401E-BF68-5BCF385C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38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AF9056-6031-4B04-A5B0-4B52A892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3390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random sample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70EDB0-AD88-4DD7-84DE-3B0C88BD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3390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86A1A0-34C8-4C42-A830-43488F5B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3390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ABBC29-2464-4172-B330-DADAABC6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3390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16%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C4D47C-15E3-45D8-A346-558E59F5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3390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74%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AB5E1F-4C60-47FB-9705-5771C73B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3390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73.7%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673D89-8A66-44A7-85DE-481241CE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339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49.5%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D6C055-E8EA-4FE2-AAE5-81E74DCE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Random sampling mostly selected easy both-correct cases, pushing the router toward nano and losing 6.3 accuracy points. We therefore oversampled critical cases deliberately.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D47F77-B757-4733-9F1D-070191B4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Critical = mini-only + nano-only; sources: half1 trainval50 with-critical split and random-control trainval50 split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0F7C96-7B98-419E-B9DC-0BD77691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337321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14646B-F496-44B2-B100-FB3EDF96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Prompt-router size sweep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0F581F-8D8C-4DD9-A4FF-B6CB9EFF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Larger samples were not automatically better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531DA3-367D-4518-8CE0-0B635E55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2C4488-474F-4D7D-8C71-5B15BF59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1391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7EE1C5-9A77-47F5-B150-D1F1EFB0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Size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BDEE82-E57B-47E7-B59D-98DC0C22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5737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M/N/B/W mix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1FDC03-C7D8-455D-8B6C-6F7FBFAF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57375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Accuracy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45DAA7-9A8C-47E3-8763-77720041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57375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Savings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E3C263-D551-4C52-BBFF-BDD71406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5737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test nano/mini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F8FABF-709D-4906-A71C-B8CD9C93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Readout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832D50-2BE4-4407-BBD0-434C7ADA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0A5512-32E2-493B-97D0-8D3C7E14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479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264F45-C2A6-4AD5-950A-FEFC65F5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479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76/0/24/0%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DF69CE-F97D-4254-A996-85627318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479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78.5%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9BCFF4-3C82-48F6-8B24-04311E8C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479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18.6%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705785-05EA-4098-A80D-ED9E712E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4790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64/141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A6DD88-7D50-4320-B42D-C937B325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Intermediate trade-off.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FA2431-362C-447D-9B76-9406436B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2A610B-EF00-4328-BD67-976DD961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860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5B2484-0D78-4DD1-86D6-0255496E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860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38/2/40/20%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D8EE3E-FEF2-451B-9045-E2D23ED1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8605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80.0%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35A3F0-4D7C-431C-9DFC-2D527E25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8605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12.6%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DB1B5C-4F54-4D1D-90BD-CC00E16F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8605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45/160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51DA96-CC50-410D-9D6E-22104599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860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Best accuracy-preserving point: 80.0%, but only 12.6% savings.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5616B5-4ADA-4357-A7AA-B910CB3F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BA71F3-11EE-4149-9564-48E32DD2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242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F84F97-81B4-4DE2-AC1D-2FF6F97B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242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25/1/57/16%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BC4D51-CBFA-47D5-B1D8-8CDAE587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242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77.6%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3DAAD5-7CCE-49F0-B8FC-1F592CF0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242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31.2%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A852DC-409B-40E8-97E3-48F0C0ED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2420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109/96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7BF525-243A-4F29-9035-333E0EBD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242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Intermediate trade-off.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26E80C-43FB-48E6-90E6-3419C40E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671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8B9458-FDA5-4483-A1FF-CE679B5F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623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4C5AC6-87FD-4AF4-9938-E6565467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623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19/2/62/17%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71843C-4081-4E48-8FBE-A82819EF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6235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76.1%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64D1A2-DB0A-46DC-8CE0-261FA698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6235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43.4%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1AE5F4-C4FD-4ECB-99C2-791AA9BF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6235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146/59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8BE650-C7F3-4D02-A7CE-7B9F85DF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623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Intermediate trade-off.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023E3D-01AE-4073-8655-40129B04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4EE77CD-4FD5-4FFE-BA22-2904D981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005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125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1E1455D-05C2-4EAA-ACD4-88AF505A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005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15/2/64/18%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915C668-943E-4945-AE9C-12A21681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005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72.2%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9C6A4CA-5A0D-40E1-AF8F-32B8B7B4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005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67.5%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D7C696E-854A-4E6E-91F4-CF878347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0050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191/14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08EB4D5-322C-4AF0-8442-18713D5F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The router became nano-heavy as both-correct dominated.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CBE93E5-91EF-49A8-94B3-7E1BE9E5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191D544-B554-4100-B9E6-7C265178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150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00D3637-8FDD-4D9B-AB49-6479E458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386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13/4/67/16%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7298EB3-4884-466D-B58F-5BEF6202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3865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72.2%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1558502-7191-4859-9DD0-FF115F0F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3865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62.3%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343D353-33DF-4855-AB0F-AFE3C97F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3865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193/12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EF4A7D4-6DD3-4F43-8DAC-62933887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386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The router became nano-heavy as both-correct dominated.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50AE6E6-BA74-4C48-A2A8-1A440F51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AE09ABE-F3D1-40E4-8CFB-1F179BB0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768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200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BC9FC97-F97F-4061-8C09-4F603A8BB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768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10/5/71/15%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7D2894F-20A8-4CEC-AF48-7552F74B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768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72.2%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01AD7E5-44AB-4F43-BDC8-ECE5A687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768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62.3%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FEC5097-EC8F-48D0-84CF-DC98E432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7680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193/12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C09072C-0A1B-45FE-A203-AEFEE284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768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The router became nano-heavy as both-correct dominated.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ABD13A7-EFBE-419E-87BE-9B78ED4D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Size 50 best preserved accuracy. At larger sizes, the falling critical share and rising both-correct share pushed the router toward nano-heavy policies.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2E523F9-BC06-4145-94D7-A240DE34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Fixed test set: second-half 205; source: routing_cost_comparison_testdata_hybrid_half1_trainval*_openai.csv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B914F39-ECFA-4452-BE6B-6B9C2E8E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382919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9FC36F-3AD1-4971-A520-B7F5BDA7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Random-control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B72027-F593-44E3-A4D8-61F5FD1B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Random controls showed that natural sampling pushed the router toward nano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2DBD23-DE6A-40DD-99C8-3C74C830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85782E-E1BB-43E6-8C2C-3F754800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B5EFAA-DC3D-4208-8C02-F8A1D337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38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mini-only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D748B7-85F1-4D0B-89FA-52FF7591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428B7F-5563-4D48-ACC7-948847B7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638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nano-only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1BB895-FD1F-411B-9906-6C7AB185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3F7E48-6C59-4F5D-B73C-8321D93E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38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both correct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68109E-E47F-477D-BF3B-F438FB74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27886A-4A4F-4E85-9824-644F64BD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38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both wrong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081646-A6A7-4E5E-87FC-5408EEC4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random 50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E7DC29-00CB-406C-BCC2-97AD06B0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33600"/>
            <a:ext cx="60579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B8EF32-9061-4B0E-989C-D4E0313C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181225"/>
            <a:ext cx="54864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12%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C6698F-3C8E-4361-BCC3-E3A884BE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9790" y="2133600"/>
            <a:ext cx="20193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B296D9-1662-4D48-B39B-145DEA7D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2133600"/>
            <a:ext cx="373570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4F1F0B-813F-411B-9393-A3016A28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0295" y="2181225"/>
            <a:ext cx="367855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74%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A48AC7-03A7-45DD-ABCD-7D8F6078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133600"/>
            <a:ext cx="504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A18910-63C3-41FB-B326-80AF5A96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81225"/>
            <a:ext cx="447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10EEF1-D1B5-4D57-A411-633D3456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621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6/2/37/5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DC6BCF-93DA-4597-A2DD-EFECEF88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621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acc 73.7%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590E9D-41AF-47B3-80D3-A5201BAF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1621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save 49.5%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AF2B45-7E72-4CC8-8B0B-82CA8E1C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random 100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6C1A05-1345-4813-95E1-32770456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81300"/>
            <a:ext cx="504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591775-13BC-468E-BA43-8B781FDD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828925"/>
            <a:ext cx="447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3C429F-D48F-49C6-8EF9-B7F26023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781300"/>
            <a:ext cx="20193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BB284B-216D-4EF2-94E0-6A53EDC4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0755" y="2781300"/>
            <a:ext cx="363474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132EF3-21F1-4A1F-99B6-FF2F9126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330" y="2828925"/>
            <a:ext cx="357759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72%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A47D16-773B-48F3-BE37-FFEB9A5C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2781300"/>
            <a:ext cx="70675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6A5B3F-DB00-420C-A5B9-8EF0A9A2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4070" y="2828925"/>
            <a:ext cx="64960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14%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2919F5-9A1C-4AA5-92D2-8C32DBE9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098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10/4/72/14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9FC335-677F-4649-A448-C7FCD154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098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acc 75.1%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5E2802-D25E-49B6-B333-D876F4C8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098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save 43.9%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FA2611-F9D8-4054-8FAC-E5DB3538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099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random 150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BA7FA6-CB27-4CFC-A208-8C6FAB83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29000"/>
            <a:ext cx="47117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1CD310-A964-4F92-9806-746BECCC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476625"/>
            <a:ext cx="41402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9%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151099-0621-4D70-BF4E-5D832B91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170" y="3429000"/>
            <a:ext cx="20193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DD7CC0-7BFB-4FF8-A78A-7B31D4CD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7100" y="3429000"/>
            <a:ext cx="356743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D02149A-E90B-45D3-9C73-BC3307F8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5675" y="3476625"/>
            <a:ext cx="351028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71%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02FBE39-9ADF-401C-A6B7-C24E5ECE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530" y="3429000"/>
            <a:ext cx="80772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C40539-1CC1-4EEE-AF3F-659B8FFC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3105" y="3476625"/>
            <a:ext cx="75057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16%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5E365A6-8A42-4802-BC87-A97F7950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575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14/6/106/24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3AAD84B-0D52-4044-B033-4D1899C5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575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acc 72.2%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E7C8079-A450-4045-A3F6-CFA46121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4575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save 61.9%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9A79118-8980-47EB-AB14-18BB5FBF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57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random 200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8ED9ED7-492F-4BF7-8879-4F0AC632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76700"/>
            <a:ext cx="47958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9B9A7B8-ABB7-437E-B871-3E07D191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124325"/>
            <a:ext cx="422434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10%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93AB088-7EAF-4AAC-8D51-965F00AF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3584" y="4076700"/>
            <a:ext cx="227171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C1D63F8-4CE8-480C-8FDD-FE8018D4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0755" y="4076700"/>
            <a:ext cx="358425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608E6A8-86B8-46CB-8413-BB3A3483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330" y="4124325"/>
            <a:ext cx="3527108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71%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5333CD0-54D4-4126-ADC6-29962BFD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013" y="4076700"/>
            <a:ext cx="75723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DB20B0E-DD32-42C6-86E0-9FFCD397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3588" y="4124325"/>
            <a:ext cx="700088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15%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BB27E72-AD77-4AF0-A5BE-0F1C160E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052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19/9/142/30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877D559-6FB3-4D67-A85A-75A04938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052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acc 72.2%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A85279B-04B0-4982-A87D-52C6F400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1052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save 61.9%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F32E34A-16BA-4DF1-A01A-DC97C2DF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Random50 had only 12% mini-only and 74% both-correct. That is why the random-control router saved more money but lost more accuracy than the critical-heavy size-50 split.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CE518F4-8F3F-4B5D-A70C-229D592A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Sources: routing_split_half1_random_control_trainval*.json and routing_cost_comparison_testdata_hybrid_half1_random_control_trainval*.csv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89DC44D-54D9-4973-8960-ECE15DD4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837682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42AF61-0D9A-4068-BB71-E754FA46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Bucket ablations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125736-68E9-4589-AC12-0448ABD4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The size-50 ablations changed risk posture, not just sample count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3337C2-98E3-44F8-A8D0-88625FB3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3F9E84-E730-46FB-879E-F314EE7C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1001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6036CE-6996-44DA-87B4-6B17409C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2181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Training mix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2439CB-E461-40E2-9D05-F57D494B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857375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M/N/B/W count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0B9E3B-0B51-4C89-811A-361B7144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857375"/>
            <a:ext cx="1228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M/N/B/W share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9E55CF-9A5D-4C46-A4AE-69E2BD4C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5737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Accuracy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877CD5-D5BF-4F00-B005-295CA20D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5737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Savings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5D9646-B9A2-485D-9D00-7EAF5124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57375"/>
            <a:ext cx="1038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test nano/mini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9D21EB-9E9E-411A-B599-43DFE78E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57375"/>
            <a:ext cx="280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Takeaway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545574-4412-45FF-A1AD-28D0771B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86585A-7B02-4B52-A506-56355695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47900"/>
            <a:ext cx="2181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balancedish 50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7A06B3-2E73-430A-BFB8-9A63B5E6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24790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13/9/14/14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B6552E-CE5C-48C5-B10D-44772565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47900"/>
            <a:ext cx="1228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26/18/28/28%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9F4FAA-0BFB-473F-80C8-E4EF90CA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479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79.0%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B5FE0B-3BC7-4C6B-93BC-C74B85CD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479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24.3%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8DC6F6-6CBD-4003-A6BA-EF37EF39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47900"/>
            <a:ext cx="103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82/123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9E7BE5-8F62-4A27-B0E3-2419B355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4790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Most balanced: 79.0% / 24.3%.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504D32-FD58-478B-9048-5368E595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0510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3EFCAF-705E-4B1D-9EB5-5FEF5960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00350"/>
            <a:ext cx="2181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critical + both-correct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F98F21-AF67-4B5A-8C0A-5062BBCB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80035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19/0/31/0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D18DD4-C650-4D24-9F71-5489A8EC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800350"/>
            <a:ext cx="1228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38/0/62/0%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F82E6F-2BF0-41AE-AACF-72C43BD7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0035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76.1%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379199-57BC-45F1-AAF4-1C5F8CCE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035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34.7%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38D0BE-48E6-412F-B602-B2617171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00350"/>
            <a:ext cx="103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122/83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95C232-9441-4008-AB16-02F43FCB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Shifted risk posture.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F8683E-B806-4305-9F9F-DBC343B1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BE3BC9-C07E-4423-9A8E-BAA29350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52800"/>
            <a:ext cx="2181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critical + both-wrong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0EC8FE-AD38-41CA-8518-6D6D9BBC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35280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19/0/0/31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DC9173-89FC-4986-8957-2C0C6C96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352800"/>
            <a:ext cx="1228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38/0/0/62%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179F23-841E-4C51-9331-E94E9ACC4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528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78.0%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C5BA8E-8712-4766-BEBE-E687001F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24.4%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E449B7-77C2-4448-9C1B-C71D4BF9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52800"/>
            <a:ext cx="103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85/120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5B94FC-9D65-4B03-943B-3AE27C89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5280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More conservative, but limited savings.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3194A7-A2B2-4D73-9F0A-F88B0727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902E94-D583-4083-B07A-31B31437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05250"/>
            <a:ext cx="2181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both-correct heavy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DF3C1FF-95FF-4448-8240-FFE5DEFF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90525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5/0/40/5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7CB954-7FCE-41E8-A064-63AC7737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905250"/>
            <a:ext cx="1228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10/0/80/10%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47C75D7-61A9-4EC0-B5F2-0828841D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0525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72.2%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788AA2F-46B1-413F-BD62-AA6B3027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0525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59.9%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4D15CC0-F38B-4AE8-9FDA-FA5CBBFE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05250"/>
            <a:ext cx="103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185/20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0A8B34E-05CD-4017-84F3-CB93A688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90525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Too many cheap-safe examples pushed nano.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9E19B6D-B558-4FCD-A8A2-0EBD4414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B2DB186-0578-4A2A-9198-2ACE0688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57700"/>
            <a:ext cx="2181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both-wrong heavy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FC9FCF1-C317-4CC4-8618-4E693E4E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45770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5/0/14/31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D95FD1B-4370-40CF-AAF9-04FCBF24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457700"/>
            <a:ext cx="1228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10/0/28/62%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6C3B945-7DAC-41C0-8259-C1A13C54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577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74.6%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BB09FBC-AD3F-4B12-BDB0-E176AE65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577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47.3%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0405286-F833-4E82-B37F-A5D53F3D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57700"/>
            <a:ext cx="103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157/48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99B588C-5252-447D-B4EA-4F200AD4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5770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Shifted risk posture.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A1C368F-BAED-4DE3-AD14-E4498E23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2222"/>
                </a:solidFill>
              </a:defRPr>
            </a:pPr>
            <a:r>
              <a:rPr sz="1575" b="1">
                <a:solidFill>
                  <a:srgbClr val="222222"/>
                </a:solidFill>
              </a:rPr>
              <a:t>M/N/B/W = mini-only / nano-only / both-correct / both-wrong. The important lever was bucket mix, not merely optimizer choice.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7D4B843-C703-48BA-8E85-0770246E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Sources: gepa_router_prompt_result_hybrid_half1_ablation50_*.json and corresponding testdata CSV files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474B21A-E310-45F1-BEF7-DEEBC889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820825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39AFCE-CEBF-4E16-BA80-17A8AA2A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Soft-prompt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FFCCFD-3CCB-4804-8EE3-F33E466D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The soft-prompt router turned routing into a small trainable classifier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310C3F-B609-4C81-AD8D-F36E882B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7C3B1E-1447-4261-A817-8375618E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18288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103808-DE6D-415B-817A-97D5DC2C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BA3EC4-FCD8-47D7-9E2B-D83F502F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Build routing examples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FD8159-4E73-4E5C-96BA-ED1143CD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1485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Each question is paired with mini/nano correctness and cost, then bucketed as mini-only, nano-only, both-correct, or both-wrong.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5F1170-91B3-4B58-81F1-E235F3FC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000250"/>
            <a:ext cx="18288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92FED3-C212-4A24-9065-3F69AE0E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717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2784FD-CD6E-4A3F-9E11-3ADB4F6E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860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Format the input 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645125-E5AF-41D9-9E9E-8E7E748F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57550"/>
            <a:ext cx="1485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The encoder sees category, source, question, and answer options. These runs did not include the nano answer 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B56666-B8DB-4939-8DA0-7C5989D8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000250"/>
            <a:ext cx="18288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837527-3E95-4240-B852-39177964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1717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67E858-233D-41BF-9F40-BA621625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6860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Prepend soft tokens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7523D8-8CA2-47AF-831A-B7674292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57550"/>
            <a:ext cx="1485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Sixteen learned embedding vectors are concatenated before the token embeddings; they are not readable words.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DD1DE7-62A9-43A6-87B2-B50292A1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00250"/>
            <a:ext cx="18288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85B046-3F08-4E30-ADBF-320C331F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717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DD3432-7EED-487B-8883-06447C6F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860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Classify the route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BA2748-C2C9-493C-8132-91CC44CF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57550"/>
            <a:ext cx="1485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The frozen encoder produces a representation, and a small linear head predicts nano vs mini.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E3B6D4-7756-469E-9597-D2E01D10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00250"/>
            <a:ext cx="18288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9C5CD0-8F9E-4427-9C1E-A8B06874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717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05EABA-5BA0-479A-B83E-1B8D2A4B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860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Apply a threshold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7572C4-3A3B-457E-9E82-2CB5630E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57550"/>
            <a:ext cx="1485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The mini probability is compared with a decision threshold; higher threshold routes more examples to nano.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909FC9-73DC-4ACC-AF92-9EFD8456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The important shift from prompt GEPA: the policy is no longer a single text instruction. It becomes a learned probability score that can be calibrated after training.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9819BB-9DE9-4096-A7DC-E81D347F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Implementation: train_softprompt_router.py; SoftPromptRouter.forward prepends learned embeddings and thresholds the mini probability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71C60A-DE0B-4C07-869E-49FEBFE6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862272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8F72F8-5C64-445C-8E44-308292BC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Soft-prompt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797704-9A20-4254-A157-F52AC8E9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Backbone and training setup were intentionally small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D639BF-D85D-4890-BE7B-D80BCD4D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27680F-5508-47FA-AC7B-A5EA60F1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53AFFE-FA29-42AE-9FE7-F90DACB6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Backbone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56AF27-4680-4C6D-B2A3-DB0ABAEC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DistilBERT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395DA2-0AF7-45B5-8043-D383F6B1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distilbert-base-uncased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8D5546-169E-4D30-A5FF-910FCAAA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A47883-9265-4318-8FA6-97304532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Backbone update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848F7B-17F9-442A-BF05-0294F206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frozen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BCEF86-81B2-4644-8A25-0B4E7562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train_backbone = false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E66F6A-2273-4C01-986A-C24F533A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40A448-D68D-4912-AE54-25A5D12C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Soft tokens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602770-39BF-4A09-94B6-FEF0620E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115356-F101-4F8D-975C-EE86A0E7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learned prompt embeddings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71FF66-05E4-4FD3-9402-8CE145D2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328EE2-4AE1-44E7-A79A-6505A135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Trainable params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47F70C-557C-4593-BDF8-7BE1BA29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13.8k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F9F037-67C8-404A-A13D-F35B99CF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out of 66.4M total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134706-36CB-4F1A-A623-446B3B5B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1076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7F704E-AE78-4802-BFBA-3DA3D5A8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0522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Component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1DC310-1548-428D-94E7-2121BCDB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05225"/>
            <a:ext cx="3848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What it did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5D8451-BE61-4B9C-8D80-1172F8DD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05225"/>
            <a:ext cx="441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Key setting in best run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4E8449-7E58-4697-90DB-638BE4C7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A88D49-C7A6-465B-8A11-C5502DBD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957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Input encoder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DD2678-7CA0-4079-816E-701BC578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9575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Tokenized question/options into a transformer sequence.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A29360-A254-4EA0-8748-C698BAE9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5750"/>
            <a:ext cx="441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max_length 384; no nano-answer text included.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C77885-EA19-406B-A1DB-E4EEE0A9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4E2E53-09FB-46CA-9DCC-1FB8DCB4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529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Soft prompt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98B41F-2714-4116-9478-575F8807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5295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Added task-specific learned vectors before the real tokens.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25F96E-EAF9-4645-A9BB-9D7492C6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52950"/>
            <a:ext cx="441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16 vectors of DistilBERT hidden size.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EB9720-C5AA-4D44-B7FF-76454DF3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149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3E4659-DE72-463D-8A96-7A443DE5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101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Classifier head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00F35B-2BE3-432C-A5BF-368C86E1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1015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Mapped the encoder state to nano/mini logits.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8F1880-2C08-4A3C-B27D-4E2FB463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10150"/>
            <a:ext cx="441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Linear layer over the first real token state after soft tokens.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379739-0E06-4B1F-A60D-F54EE72A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721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E94B7FC-EC38-4609-8F33-CB5BDCA7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673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Training objective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A2C52E-2317-4ED7-8351-2E20C4CF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46735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Optimized routing utility rather than just accuracy.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A06CE7-8D32-4689-800B-57BA7167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67350"/>
            <a:ext cx="441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expected_utility loss; target mini rate 0.25; mini penalty 0.4.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F85EDCC-F62B-497D-8B51-0C97F476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E5C0A61-10D0-422A-A03D-F47E05D4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Decision rule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481921D-F2AE-4B63-A26B-AC300434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92455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Converted mini probability into a discrete route.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237774A-94F6-48E7-974D-D1CEE464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924550"/>
            <a:ext cx="441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threshold 0.45 for the selected 205-test run.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951E212-6620-403B-9DD0-DCB6DF6C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Best-run args: hf_model distilbert-base-uncased, epochs 8, batch 8, learning_rate 0.01, train_backbone false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330D594-20D0-4A96-AB16-A545BD8C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248157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5221D2-7017-47F7-8FE9-E610B68A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Soft-prompt follow-up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4C4225-AD1E-4364-9EB8-169C9AD6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Soft prompt was added as a trainable router after the prompt sweeps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CAC97F-393F-4616-A472-F8725F39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133871-3BAE-4C0D-AA28-6E815BA3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A097F6-D30A-4791-A72D-9B668CEB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Model 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378118-CC07-49EE-BC2D-1D640C12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frozen encoder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B34911-FF96-46FD-B5A9-3AB441F2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trainable soft tokens + classifier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ECE62B-F01D-4DD2-A8CA-3D2A243F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05C721-3F6E-4EF9-8D5E-493270A8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Initial split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D84C05-57FC-4178-B71F-C65D94D6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40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C2820C-F8CC-489F-8EAD-2D0CFCFB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same half1 trainval50 split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92AE01-DF5D-45FE-83C6-E4ACF362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13D087-4BDA-4535-8C36-2C6B1EED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Best heldout run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DA4F44-96F1-4D22-B8A8-F4F093F2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81.0%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A3734C-799E-49A2-88F1-C8202611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205-test accuracy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64DCDE-A470-4DDA-829B-18C9165F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EC6A66-D180-4212-8A45-C77EEDAD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Best savings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30C542-FCC8-4AF9-91F6-2363DD88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40.6%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DAD636-6EED-40FB-AFD7-8BF95824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95 nano / 110 mini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8EC85C-BD98-4348-8C01-024A6447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11191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DEA485-B3F7-4D28-850B-BA384A2E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81425"/>
            <a:ext cx="270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Run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0E9338-817A-44BE-A015-DEFE210C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81425"/>
            <a:ext cx="752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train/val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2A020F-5D66-48F8-A47B-BFC62FF4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7814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9778D8-F164-4919-923E-90809E5F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781425"/>
            <a:ext cx="752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Accuracy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4F46D5-E8CF-4CF7-8B87-4B0382D8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81425"/>
            <a:ext cx="752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Savings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083F53-9CA0-4654-9810-193E14DF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781425"/>
            <a:ext cx="847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nano/mini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D4E36B-6347-436A-AC73-ED94ECE6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81425"/>
            <a:ext cx="657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critical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6A52E7-7CA4-4BF7-9BB0-BE378AD8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81425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Interpretation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66DDC4-C178-4E6A-95D6-CD41BEF8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7670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4BFA3F-7C36-4E1C-BA3E-AF3F00B3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71950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half1 trainval50 smoke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58740E-DE2E-4B98-9C71-ED1483A8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719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40/10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36B0BC-9A55-4279-B743-AAFCB75F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17195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E896F0-3AF6-4926-B0AD-7C3172BD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1719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80.0%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06F99BB-853A-469A-874B-B1A85DCD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719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5.3%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4E64E4-71B7-40EA-8CDD-BD478B12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171950"/>
            <a:ext cx="847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14/191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AA5FBD-F8B4-47FF-8F64-E5702F31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71950"/>
            <a:ext cx="657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606AA0-BE07-4D32-914C-7926E4D8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171950"/>
            <a:ext cx="2990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Accuracy-preserving, too conservative.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8DEE79-5455-4C61-8F3C-8ACA25D9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49DAE32-42B4-4741-A248-51889F86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24400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balanced50 risk EU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27CDF4F-C2D7-4912-A225-3FFE0567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2440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38/12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ACD1819-7CAF-4234-A2F6-4D64C272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72440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205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DDA5E25-E514-4C10-A55C-EC020808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72440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81.0%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D00A80C-B873-41D0-9D12-5BCCFF45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2440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40.6%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B78D408-790D-41C9-860F-EE5C1554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724400"/>
            <a:ext cx="847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95/110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827BCF8-5402-4AE9-8371-DDA35C26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24400"/>
            <a:ext cx="657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A24289E-CC3D-45B4-97F6-3FC4DCF2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24400"/>
            <a:ext cx="2990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Best usable trade-off.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2D63F34-66DA-45DC-B9D5-130371D1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1B0569D-B2FF-46E7-8A1D-3A318114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76850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first205 random50 risk EU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14FDD2D-D754-4F5D-BF32-1D02E44A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768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50/0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2A66F54-B141-44DE-9E59-F01551F4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27685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205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EFA0AF5-4169-414E-9987-21FC8C14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2768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71.2%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FC2DB35-2180-4D78-AD06-646A30F7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768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63.4%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50CCF6F-9280-43B0-8ED5-B43379F6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276850"/>
            <a:ext cx="847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169/36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2E5FC41-F1E4-4D7D-9DD8-4303C82C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76850"/>
            <a:ext cx="657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24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04AEAC7-3B0B-41B8-A236-4492CF13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276850"/>
            <a:ext cx="2990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Cheap but unsafe.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D22E614-B9A0-4C8D-A9B9-7E7D6B0D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Sources: softprompt_router_half1_trainval50_test_smoke.json, softprompt_router_balanced50_risk_best_expected_utility_test205.json, softprompt_router_first205_random50_seed0_risk_expected_utility.json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80566F8-813A-4D6B-9B51-14ACB647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626916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04DC13-506E-46C3-8241-89941F7F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Threshold sweep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75736C-E58E-43A7-8586-630EF5AC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The soft-prompt threshold exposed a smoother risk-cost frontier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AE55CC-491A-4CA4-8B69-B933AC7D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644704-8D1F-4052-B7FB-E91CA1F0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14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0.00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03C686-1DFD-40F6-BA9C-C20DFF64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526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299048-E4E3-4E60-BB92-AD2F94B4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52625"/>
            <a:ext cx="2811463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890A8D-E16F-4DEA-B666-ED31F893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050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24A706-EE7C-4D31-BED2-15478B3B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05025"/>
            <a:ext cx="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55732E-2522-4DE9-A340-F3755BFD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05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80.5%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D248CA-B449-4464-902F-1C67E9F7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478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0.0%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3B9C3A-8715-4614-A3E7-8625E570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145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0.25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747F4D-D273-434A-98D4-ED7CDD61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5267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8ACBEA-7303-4B35-ABAB-5A10F1EF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52675"/>
            <a:ext cx="28289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1E6A43-1731-4F90-BA77-48D73B63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0507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34E294-811D-4066-AB57-2DEFB5FA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05075"/>
            <a:ext cx="373261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94947B-CE78-4C89-8208-8931352A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050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81.0%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21ED22-24AC-4CB9-8713-199DE2D1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479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9.5%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020A0F-553E-4AFF-B2D7-2D6C456B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146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0.30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0484F1-1E72-4FD6-B1B9-9D08E1EB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527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186802-338B-441C-8830-B666A15F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52725"/>
            <a:ext cx="28638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5D4F27-0086-4DA4-B643-08AE19CF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051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E9A496-15B8-4B64-B02E-80BC1655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05125"/>
            <a:ext cx="660083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2DE2D3-495A-4519-BCA1-8AE98A05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051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82.0%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D1F267-389C-49B0-B2B6-1A67EDF3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479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16.8%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18BDFD-6F05-4128-B2A5-F8AE963E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146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0.35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CF928F-07BB-4EF9-AA14-F75D0494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5277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C78C31-9A74-4FC8-AD18-8C844F1B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52775"/>
            <a:ext cx="28638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F0438F-CCC1-4054-91C6-4217923A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0517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0959F3-A3A5-4C20-83AF-426C3BA3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05175"/>
            <a:ext cx="966549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081E23-7759-4056-8E09-76AB68C9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051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82.0%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56A41F-27EE-4AED-BD6D-33621A47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480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24.6%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688780-9878-4105-B56E-B14FF7F1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147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0.45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6D159F-08E2-490D-A685-AFC22BF7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528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108BCD-311D-48C2-8E71-3D2DE92E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52825"/>
            <a:ext cx="28289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ED0B5A-35B8-407E-92C4-D17C2A1E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052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017E6B-786E-4358-8771-68B81BFC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05225"/>
            <a:ext cx="1595199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10D269-7929-442B-B09B-20040612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5052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81.0%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33DD81-2D0B-4DF9-862E-D62495FF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480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40.6%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49D1927-8C55-46D3-8800-4E906528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09750"/>
            <a:ext cx="500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1EE7972-8F34-4EC1-88D5-0AD3C35A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914525"/>
            <a:ext cx="752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Threshold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CE42D1-3B18-43B7-8DC2-500584CC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9145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Accuracy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7C4D7E1-EF29-461B-ADE1-DF543181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9145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Savings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AF302CD-445D-42C9-8A34-FA209371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91452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nano/mini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53D1ABD-47F4-430E-8B7D-FF773FE6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1914525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Mean score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FDC1AC0-A8C1-414C-B1C0-BE199D17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09800"/>
            <a:ext cx="500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1B2D062-0648-49C4-BFC5-6C8FED86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05050"/>
            <a:ext cx="752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BE985C-FF1F-42D3-B05B-8C943488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3050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80.5%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CACA19D-F826-4330-8945-9335A908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3050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0.0%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5BBCD81-FC9C-4268-9102-77B7038C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30505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0/205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6576853-7E07-47F8-A6CE-49556D7C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30505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0.387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D269599-F103-4CBC-9251-D6B29C52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05100"/>
            <a:ext cx="500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D1DBA81-67A0-4199-977E-906351D3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00350"/>
            <a:ext cx="752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0.25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93EB4D7-DEE4-4C88-8183-4BEDC7B2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8003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81.0%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83A4E2A-5D8F-4949-986F-9331C642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003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9.5%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3A4694A-A902-471B-9F1E-C69357A3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80035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29/176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F9D583F-963E-4F38-AEC4-5F207E0A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80035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0.460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E3C879B-DC38-4E97-9C41-5E074698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00400"/>
            <a:ext cx="500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544846A-EE1D-4A81-B463-5632C3B6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295650"/>
            <a:ext cx="752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0.30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DDCE9DF-A31E-4F35-BD13-BEB51A47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2956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82.0%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0081D78-E351-453F-978A-FFBF1047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2956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16.8%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B2AF2C6-6FF8-479A-B3BA-6F555FE8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29565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46/159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B46EB6F-B7C5-4302-AB22-C2904A54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29565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0.505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9B50DD9-1B8E-461C-8883-A738DBDD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95700"/>
            <a:ext cx="500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797F215-073B-40D4-B6DC-147C52BC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790950"/>
            <a:ext cx="752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0.35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DC07252-CEB2-44FD-8AFD-CD71FA1B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7909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82.0%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AAAADCF-9C2B-4672-8C69-43194FD2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7909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24.6%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43D7499-365E-44CD-8C16-AA199E07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79095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66/139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2F10F8B-74D0-4A6B-A175-8DD58A97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79095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0.551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21F6988-6F50-4730-929A-4BDFFD1C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91000"/>
            <a:ext cx="500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E9F47F0-EFE9-411B-935E-12F144EE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286250"/>
            <a:ext cx="752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0.45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501186C-A827-4491-9784-82990C50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2862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81.0%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A9604DA-7C10-4D0F-B981-914A9862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2862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40.6%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A618EC8-BAEA-4858-9FB0-260418DD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28625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95/110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36DFE3B-1BF7-4122-8E63-3D89692E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28625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0.556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9DE4268-F710-45C0-814B-AD50367B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Unlike a single prompt, the soft-prompt router can move along a threshold curve. The selected 0.45 point traded one accuracy point for a much larger cost reduction.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F1D3E9F-C5DD-43CD-B559-806A4524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Threshold rows from softprompt_router_balanced50_risk_best_expected_utility_test205.json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DC0784B-BDF5-46DE-B4BB-7D125A28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885952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51A3E9-41B1-40C8-9BEF-989FDFAF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Takeaways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212542-6D50-4662-BD11-9ED0CBA4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What the combined story says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B2A3C9-97CE-4C06-8C5A-AD76F5BB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111DAC-B71A-4B65-ABC4-A51C44F0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076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96E0C0-40AA-42A3-AAB6-97213E7B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3086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Finding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D8BC7F-DD14-42A9-A259-FF39926A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57375"/>
            <a:ext cx="327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CB7F37-7AEC-442B-99C7-2A5B6BDC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57375"/>
            <a:ext cx="3943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Implication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61022D-9438-40A0-8C5B-636729D7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0E9BFC-D386-4F30-864B-B680CDF4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47900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Data mix dominated the prompt-router behavior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D396BE-EB2A-499B-B3CF-A2707B6D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47900"/>
            <a:ext cx="327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mini-only share fell from 76.0% to 9.5% across the size sweep.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97DD49-03C1-487E-B149-CEA34B62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47900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Do not treat larger train/val size as automatically better.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53F5D5-8702-426E-A8BF-3399B521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12A6C9-56CD-45C9-8CB3-8015D768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90850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Size 50 remained the clean prompt-router anchor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874D7B-6C58-462D-BEFF-D77CEEFA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90850"/>
            <a:ext cx="327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80.0% accuracy, 12.6% savings, 45/160 routes.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CF858C-3B75-46EE-9050-FE4A7D4C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90850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It preserved accuracy because critical examples were over-represented.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FA347A-EF95-4FB0-8BD9-AEFF40E2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46EF34-CA57-44DE-B4EB-8B508C50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33800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Soft prompt improved the trade-off frontier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6B406A-9C84-4FF3-9D13-49394924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33800"/>
            <a:ext cx="327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81.0% accuracy, 40.6% savings, 95/110 routes.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E2E8B0-546B-4DA1-9FED-36017E13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33800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Trainable thresholding was more useful than another static prompt variant.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A5A820-F298-48A3-8FEF-3034B75F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7626BB-90F0-44E7-8B30-D50836AE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76750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Random soft prompt was unsafe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AB902B-163B-43FF-A6B4-0475E400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76750"/>
            <a:ext cx="327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71.2% accuracy, 63.4% savings, 24 critical misroutes.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F3A43A-AD0E-432D-A8A8-8835674D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76750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The training mix still matters even with a learned router.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F7D3B6-A625-49B5-A625-0BD5E067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2222"/>
                </a:solidFill>
              </a:defRPr>
            </a:pPr>
            <a:r>
              <a:rPr sz="1575" b="1">
                <a:solidFill>
                  <a:srgbClr val="222222"/>
                </a:solidFill>
              </a:rPr>
              <a:t>Next experiment: keep the fixed 205-test set, sweep bucket mix and soft-prompt threshold together, and report accuracy loss, cost savings, and critical misroutes as a single scorecard.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639C90-70AD-410A-BE2A-77090EE8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Scope: first-half 205 train/validation experiments plus later soft-prompt follow-up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8BA886-D6A3-4409-8C7A-FA058185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263988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FF77A5-1007-47D0-B9DB-CD7B75D0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Future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055AD7-0ADB-409E-9EF6-049842A5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Next: compare with routing baselines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59BB1E-DA59-409E-A218-DC73DB43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E90BC9-E1DD-402A-A856-35AC743C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2222"/>
                </a:solidFill>
              </a:defRPr>
            </a:pPr>
            <a:r>
              <a:rPr sz="1800" b="1">
                <a:solidFill>
                  <a:srgbClr val="222222"/>
                </a:solidFill>
              </a:rPr>
              <a:t>Simple controls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1234B3-22B2-40CB-9FDC-90303B10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2222"/>
                </a:solidFill>
              </a:defRPr>
            </a:pPr>
            <a:r>
              <a:rPr sz="2025" b="1">
                <a:solidFill>
                  <a:srgbClr val="222222"/>
                </a:solidFill>
              </a:rPr>
              <a:t>Always-small / Always-large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4200BF-DDC2-46DC-81E1-6C63DC71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B48304-AE70-4736-BE94-17A800CA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2222"/>
                </a:solidFill>
              </a:defRPr>
            </a:pPr>
            <a:r>
              <a:rPr sz="2025" b="1">
                <a:solidFill>
                  <a:srgbClr val="222222"/>
                </a:solidFill>
              </a:rPr>
              <a:t>Oracle router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F4AB19-B13E-4DF7-B741-CB357E70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909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F101FF-0110-48A9-AA4C-C1123E8C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529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2222"/>
                </a:solidFill>
              </a:defRPr>
            </a:pPr>
            <a:r>
              <a:rPr sz="2025" b="1">
                <a:solidFill>
                  <a:srgbClr val="222222"/>
                </a:solidFill>
              </a:rPr>
              <a:t>Random / cost-ratio router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C64BF6-92E5-4483-8555-17656F0E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A636AA-41DC-437D-B132-F323E695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907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2222"/>
                </a:solidFill>
              </a:defRPr>
            </a:pPr>
            <a:r>
              <a:rPr sz="1800" b="1">
                <a:solidFill>
                  <a:srgbClr val="222222"/>
                </a:solidFill>
              </a:rPr>
              <a:t>Related methods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45D80C-5029-4E93-9773-D4FC411E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003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2222"/>
                </a:solidFill>
              </a:defRPr>
            </a:pPr>
            <a:r>
              <a:rPr sz="2025" b="1">
                <a:solidFill>
                  <a:srgbClr val="222222"/>
                </a:solidFill>
              </a:rPr>
              <a:t>FrugalGPT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80D160-1578-40EB-BA65-61669C34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146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C91DE5-D619-4A96-9149-8334F70B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766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2222"/>
                </a:solidFill>
              </a:defRPr>
            </a:pPr>
            <a:r>
              <a:rPr sz="2025" b="1">
                <a:solidFill>
                  <a:srgbClr val="222222"/>
                </a:solidFill>
              </a:rPr>
              <a:t>RouteLLM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F4E188-0FE0-4EB1-AD43-B0EEAEA8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909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13CB90-BB51-4D88-B177-3D8310C8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529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2222"/>
                </a:solidFill>
              </a:defRPr>
            </a:pPr>
            <a:r>
              <a:rPr sz="2025" b="1">
                <a:solidFill>
                  <a:srgbClr val="222222"/>
                </a:solidFill>
              </a:rPr>
              <a:t>Hybrid LLM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C51CFC-61D9-4174-A7BB-9C90313F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672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DB6CAE-9B9F-4264-A2E2-C6FB7C83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864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Compare the accuracy-cost curve on the same fixed second-half 205 test set.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F8F8F9-9736-4810-9CD3-C3F1D77A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Refs: FrugalGPT 2305.05176; RouteLLM 2406.18665; Hybrid LLM 2404.14618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16282D-559E-4F64-AE68-F7B9C798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364591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2026-07-14T19:53:43.9290000Z</dcterms:created>
  <dcterms:modified xsi:type="dcterms:W3CDTF">2026-07-14T19:53:43.9290000Z</dcterms:modified>
</coreProperties>
</file>