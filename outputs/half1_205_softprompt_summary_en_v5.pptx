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b8caafa080493e" /><Relationship Type="http://schemas.openxmlformats.org/officeDocument/2006/relationships/extended-properties" Target="/docProps/app.xml" Id="R13b5c89174ca4387" /><Relationship Type="http://schemas.openxmlformats.org/officeDocument/2006/relationships/officeDocument" Target="/ppt/presentation.xml" Id="Re0923867e50842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df49f16c40406c"/>
  </p:sldMasterIdLst>
  <p:notesMasterIdLst>
    <p:notesMasterId xmlns:r="http://schemas.openxmlformats.org/officeDocument/2006/relationships" r:id="R173c82ff226044cc"/>
  </p:notesMasterIdLst>
  <p:sldIdLst>
    <p:sldId xmlns:r="http://schemas.openxmlformats.org/officeDocument/2006/relationships" id="256" r:id="R97faeca77b694729"/>
    <p:sldId xmlns:r="http://schemas.openxmlformats.org/officeDocument/2006/relationships" id="257" r:id="R4d3266362b0342a5"/>
    <p:sldId xmlns:r="http://schemas.openxmlformats.org/officeDocument/2006/relationships" id="258" r:id="R232f1e5b25ba4c51"/>
    <p:sldId xmlns:r="http://schemas.openxmlformats.org/officeDocument/2006/relationships" id="259" r:id="R2721e6a251a64968"/>
    <p:sldId xmlns:r="http://schemas.openxmlformats.org/officeDocument/2006/relationships" id="260" r:id="R9850b6235b9f4854"/>
    <p:sldId xmlns:r="http://schemas.openxmlformats.org/officeDocument/2006/relationships" id="261" r:id="R028b291f171447ec"/>
    <p:sldId xmlns:r="http://schemas.openxmlformats.org/officeDocument/2006/relationships" id="262" r:id="R91da4320154b414a"/>
    <p:sldId xmlns:r="http://schemas.openxmlformats.org/officeDocument/2006/relationships" id="263" r:id="R4f97a66381c949ef"/>
    <p:sldId xmlns:r="http://schemas.openxmlformats.org/officeDocument/2006/relationships" id="264" r:id="Rcbb4492c125b40ba"/>
    <p:sldId xmlns:r="http://schemas.openxmlformats.org/officeDocument/2006/relationships" id="265" r:id="R0e073944f27e4e98"/>
    <p:sldId xmlns:r="http://schemas.openxmlformats.org/officeDocument/2006/relationships" id="266" r:id="Rf68ba5815bb84f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69f1f325214e04" /><Relationship Type="http://schemas.openxmlformats.org/officeDocument/2006/relationships/slideMaster" Target="/ppt/slideMasters/slideMaster1.xml" Id="Ra1df49f16c40406c" /><Relationship Type="http://schemas.openxmlformats.org/officeDocument/2006/relationships/notesMaster" Target="/ppt/notesMasters/notesMaster1.xml" Id="R173c82ff226044cc" /><Relationship Type="http://schemas.openxmlformats.org/officeDocument/2006/relationships/presProps" Target="/ppt/presProps.xml" Id="R224a86e458614599" /><Relationship Type="http://schemas.openxmlformats.org/officeDocument/2006/relationships/tableStyles" Target="/ppt/tableStyles.xml" Id="Rd1f170ffc94144b9" /><Relationship Type="http://schemas.openxmlformats.org/officeDocument/2006/relationships/slide" Target="/ppt/slides/slide1.xml" Id="R97faeca77b694729" /><Relationship Type="http://schemas.openxmlformats.org/officeDocument/2006/relationships/slide" Target="/ppt/slides/slide2.xml" Id="R4d3266362b0342a5" /><Relationship Type="http://schemas.openxmlformats.org/officeDocument/2006/relationships/slide" Target="/ppt/slides/slide3.xml" Id="R232f1e5b25ba4c51" /><Relationship Type="http://schemas.openxmlformats.org/officeDocument/2006/relationships/slide" Target="/ppt/slides/slide4.xml" Id="R2721e6a251a64968" /><Relationship Type="http://schemas.openxmlformats.org/officeDocument/2006/relationships/slide" Target="/ppt/slides/slide5.xml" Id="R9850b6235b9f4854" /><Relationship Type="http://schemas.openxmlformats.org/officeDocument/2006/relationships/slide" Target="/ppt/slides/slide6.xml" Id="R028b291f171447ec" /><Relationship Type="http://schemas.openxmlformats.org/officeDocument/2006/relationships/slide" Target="/ppt/slides/slide7.xml" Id="R91da4320154b414a" /><Relationship Type="http://schemas.openxmlformats.org/officeDocument/2006/relationships/slide" Target="/ppt/slides/slide8.xml" Id="R4f97a66381c949ef" /><Relationship Type="http://schemas.openxmlformats.org/officeDocument/2006/relationships/slide" Target="/ppt/slides/slide9.xml" Id="Rcbb4492c125b40ba" /><Relationship Type="http://schemas.openxmlformats.org/officeDocument/2006/relationships/slide" Target="/ppt/slides/slide10.xml" Id="R0e073944f27e4e98" /><Relationship Type="http://schemas.openxmlformats.org/officeDocument/2006/relationships/slide" Target="/ppt/slides/slide11.xml" Id="Rf68ba5815bb84f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d63a855db442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1dfd5c41994a4b" /><Relationship Type="http://schemas.openxmlformats.org/officeDocument/2006/relationships/notesMaster" Target="/ppt/notesMasters/notesMaster1.xml" Id="Rda21fe03b21d41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23ab35cc9d41cd" /><Relationship Type="http://schemas.openxmlformats.org/officeDocument/2006/relationships/notesMaster" Target="/ppt/notesMasters/notesMaster1.xml" Id="R200a04f1bdc040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8551e2c488446d" /><Relationship Type="http://schemas.openxmlformats.org/officeDocument/2006/relationships/notesMaster" Target="/ppt/notesMasters/notesMaster1.xml" Id="R4c984f75aabd4d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1142426c2447be" /><Relationship Type="http://schemas.openxmlformats.org/officeDocument/2006/relationships/notesMaster" Target="/ppt/notesMasters/notesMaster1.xml" Id="R4862c0bbdc7f488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d95427b1d44597" /><Relationship Type="http://schemas.openxmlformats.org/officeDocument/2006/relationships/notesMaster" Target="/ppt/notesMasters/notesMaster1.xml" Id="R10851db4af8b40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1639ee65be47a5" /><Relationship Type="http://schemas.openxmlformats.org/officeDocument/2006/relationships/notesMaster" Target="/ppt/notesMasters/notesMaster1.xml" Id="Rd3c8a61d3ff5431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cc503db96c4e7a" /><Relationship Type="http://schemas.openxmlformats.org/officeDocument/2006/relationships/notesMaster" Target="/ppt/notesMasters/notesMaster1.xml" Id="Ra5f158f411f641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e96ed06c5142b3" /><Relationship Type="http://schemas.openxmlformats.org/officeDocument/2006/relationships/notesMaster" Target="/ppt/notesMasters/notesMaster1.xml" Id="R55911e03db694c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99fbacf0aa4c67" /><Relationship Type="http://schemas.openxmlformats.org/officeDocument/2006/relationships/notesMaster" Target="/ppt/notesMasters/notesMaster1.xml" Id="R8eb603a0ee1545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3936b7e4154c2d" /><Relationship Type="http://schemas.openxmlformats.org/officeDocument/2006/relationships/notesMaster" Target="/ppt/notesMasters/notesMaster1.xml" Id="R54b1928710e2438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9a8972b1bc40b1" /><Relationship Type="http://schemas.openxmlformats.org/officeDocument/2006/relationships/notesMaster" Target="/ppt/notesMasters/notesMaster1.xml" Id="Rb5f560ce33a240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bd9e87eb644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0a1a0894e64f6d" /><Relationship Type="http://schemas.openxmlformats.org/officeDocument/2006/relationships/slideLayout" Target="/ppt/slideLayouts/slideLayout1.xml" Id="R2214d0648dc940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14d0648dc940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8b0f817124dde" /><Relationship Type="http://schemas.openxmlformats.org/officeDocument/2006/relationships/notesSlide" Target="/ppt/notesSlides/notesSlide1.xml" Id="Rdd0be2f293364d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003a3bfa94322" /><Relationship Type="http://schemas.openxmlformats.org/officeDocument/2006/relationships/notesSlide" Target="/ppt/notesSlides/notesSlide2.xml" Id="R21e01a7c2db745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a1da2c42444cc" /><Relationship Type="http://schemas.openxmlformats.org/officeDocument/2006/relationships/notesSlide" Target="/ppt/notesSlides/notesSlide3.xml" Id="R1ba38b676d404d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9567bb4164b7b" /><Relationship Type="http://schemas.openxmlformats.org/officeDocument/2006/relationships/notesSlide" Target="/ppt/notesSlides/notesSlide4.xml" Id="Rac704b917f6442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b23429a414ed4" /><Relationship Type="http://schemas.openxmlformats.org/officeDocument/2006/relationships/notesSlide" Target="/ppt/notesSlides/notesSlide5.xml" Id="Re27e55f4f5cc47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6336bae60a44ec" /><Relationship Type="http://schemas.openxmlformats.org/officeDocument/2006/relationships/notesSlide" Target="/ppt/notesSlides/notesSlide6.xml" Id="Rb0a790020abf48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bc8133ddc44d8" /><Relationship Type="http://schemas.openxmlformats.org/officeDocument/2006/relationships/notesSlide" Target="/ppt/notesSlides/notesSlide7.xml" Id="R2f0dcf83669c46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1bddd6d8d4493" /><Relationship Type="http://schemas.openxmlformats.org/officeDocument/2006/relationships/notesSlide" Target="/ppt/notesSlides/notesSlide8.xml" Id="R653f607da127489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57398e1dcf47f2" /><Relationship Type="http://schemas.openxmlformats.org/officeDocument/2006/relationships/notesSlide" Target="/ppt/notesSlides/notesSlide9.xml" Id="R0ba7e69d836943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951e8cd5d44eb" /><Relationship Type="http://schemas.openxmlformats.org/officeDocument/2006/relationships/notesSlide" Target="/ppt/notesSlides/notesSlide10.xml" Id="Ra78fda7b6ebc43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1e5dde704c4e85" /><Relationship Type="http://schemas.openxmlformats.org/officeDocument/2006/relationships/notesSlide" Target="/ppt/notesSlides/notesSlide11.xml" Id="R482bf6bcfd4b4a9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2761D0-9FD9-4FB1-B6CA-098D83EE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222222"/>
                </a:solidFill>
              </a:defRPr>
            </a:pPr>
            <a:r>
              <a:rPr sz="4200" b="1">
                <a:solidFill>
                  <a:srgbClr val="222222"/>
                </a:solidFill>
              </a:rPr>
              <a:t>First-half 205 experiments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0335E-0936-4187-B81C-6DB1EC07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Model routing on computer-science multiple-choice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68070A-E2C4-4063-BBE3-C58E4E61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050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E50E7-81E5-49B0-85DA-3A132223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7E230-5D09-44A6-BA04-71144613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66CCA4-9F04-473C-9FEF-53AD9ED1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routing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E46431-765B-443C-848B-FB59E574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select one model per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0D4674-CA48-44E2-87BD-DB67E2A5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58F63A-6CBB-4D11-BFA4-113C7239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56F839-9791-49B6-9DBC-45D3366F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410 MCQs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F0A46-A634-49F0-953D-D7C8D276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computer-science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5410E-3146-4A7C-BA79-E24FC575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6B3AF-F80C-4CD3-A365-AF38F59E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mini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5ECF62-12F7-4F8D-A3CB-1FF2521E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stronger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FD930F-832C-409A-862A-DC33CB93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higher accuracy, higher cost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AF6A8-DEB5-42C8-8E1D-D01A1AB6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95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48899D-78BA-4574-A68E-F8B973C6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048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GPT-4o nano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A1261-8799-44A1-802F-13658757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3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cheaper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26431E-B444-485E-936A-3531B44D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lower cost, lower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A557BC-5D85-4824-8D67-9D29757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Goal: preserve answer accuracy while reducing cost. Train and validate on the first 205 questions, then evaluate every router on the fixed second-half 205-question test 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746FA-843A-4C96-8F79-99D464F32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routing_split_half1_*.json, gepa_router_prompt_result_hybrid_half1_*.json, routing_cost_comparison_testdata_hybrid_half1_*.csv, softprompt_router_*.json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AA3BA5-59B7-4162-BA5A-6E9387D9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50825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B53269-21E0-4CBB-AE75-F61A59C0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205/205 framing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A50F1-D39B-432C-A66E-97A1C82E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fixed test set offers substantial cost savings through routing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FF275-8198-4913-B373-A624E9CF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7B4D17-AAA1-488E-9CE2-EFC009DE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51855-753C-42F8-8CEE-94EDB420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93A82A-8166-48B8-971C-7C9E6231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A6439-B37A-48B0-82D7-45CE5E49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12.7%; must escalate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E330F-70B0-4003-B755-7A3445A8D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523BC-D878-470B-B41F-34A55B00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1B570-6C8E-4BBE-B87C-2BACDD7F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139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27DAC4-2F67-4ACD-A0D8-3785F97B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67.8%; can be cheap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C18E52-215B-47C2-BD6B-BB86352D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09085E-214F-46F7-BB3B-BB68E916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test both-wrong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DB9AF-98A0-49FC-A4E4-B556C0D56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33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6F2D5-2758-45B0-BBCD-19FA4FCF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16.1%; no route fixes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1E79E0-CD48-40E6-ABB0-68703109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5D7A5-8C85-4ED8-BC97-D68AEE2C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9050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oracle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64BA42-B290-48A7-BA47-B61B9A71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DB454-24FA-4346-B5BC-F815CEFD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179 nano / 26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20E7A1-97F9-415B-B318-21180624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465804-7ADD-4C10-B69D-3E48B163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00475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Policy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17D99-143C-4901-BFBE-56CFFBC8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004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90F732-CEFF-4975-A5F7-A703C027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Cost / 1k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56B67E-09E1-4FC2-AB8E-4D2A9C7A8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80047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9F665D-48BA-43FB-A690-F149E7E9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00475"/>
            <a:ext cx="1181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F65F5E-DD63-42FC-8AAB-D73F62C8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00475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81BA18-E4DA-4A7B-A382-C3BE7050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10C868-AA6A-4EB7-B3DE-48B5A33E9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all-mini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53287-33D0-4FD0-88C4-DE7117F0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910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023EA1-0B8F-496F-B091-FEE2A54C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$1.124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79AFAF-F3E8-4ECB-9E16-F9BE5EA8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F37B7C-48AF-4C80-A361-1C5F802C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59A3AA-F50A-4A68-A85F-CB2B9B093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Accuracy baseline.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63CB20-FC66-482B-B3E5-1FEB2E13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15B9BC-AA13-49B0-A8EF-40F2FF2A2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0535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all-nano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CDC1CC-07AB-4DF3-8C39-9416D8D1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0535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A8EB63-4DBB-4CFA-BDE3-3B067675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$0.291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E963B76-1814-41AB-BD4F-2748AF19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7053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74.1%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067EE1-94CA-4EC6-8FC9-02E3BC66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0535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205/0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C83DA9-00BE-47E8-B395-7F314F5AF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70535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Cheap, but loses 9.3 points.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5EEEAB-2FF9-4D22-A460-C192DCF5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9F52A4-63B1-4113-AA66-7D1270EC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19700"/>
            <a:ext cx="194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oracle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65BFB43-A953-4638-BCEC-9E430A9E7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1085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83.9%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2CDDF3-EA7C-43D8-AEBC-10D42BCF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$0.402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AE9CB0-091E-43E1-BBA1-D011C0FD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2197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64.2%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84D430-F7CC-4522-BED9-3B8ADDC2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179/26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EE531D-04C9-465F-A7F7-9F34615A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19700"/>
            <a:ext cx="346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Large theoretical room because most items are both-correct.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78D64D-8AE6-4691-A03C-907188A7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outcomes: mini-only 26, nano-only 7, both-correct 139, both-wrong 33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7CD48AC-CF7A-454C-BE6D-9A33266E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37910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FA5EB3-61BC-4F6F-B1B5-566D6A808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Why active sampling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0B5D4A-7B3C-47FA-9747-31CFE9BB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Critical cases carry the routing signal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5CE69-3752-44E6-85DE-8014227E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3470D-FD2D-4EC6-A596-F240D37E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 critical case is one where the models disagree. Agreement cases reveal little about which route to choose; disagreement cases expose the decision boundary.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D1822-D9CB-4794-9F3A-82694339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8406C-0601-4D46-8AFF-8EA410D5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MINI-ONLY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C0FBB-63F2-44C9-8E77-8AF61CEF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mini correct / nano wrong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E3498-0359-4FC0-8B07-265DCA5A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Escalation is necessary to preserve accuracy.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3D700-4ACA-45AB-8C53-993A8CAF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09800"/>
            <a:ext cx="5257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DC363E-3C28-4949-9BD7-E5929828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F80ED"/>
                </a:solidFill>
              </a:defRPr>
            </a:pPr>
            <a:r>
              <a:rPr sz="1200" b="1">
                <a:solidFill>
                  <a:srgbClr val="2F80ED"/>
                </a:solidFill>
              </a:rPr>
              <a:t>NANO-ONLY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668D8-A4A2-4D6D-BBFE-AA1CA154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09850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22222"/>
                </a:solidFill>
              </a:defRPr>
            </a:pPr>
            <a:r>
              <a:rPr sz="1875" b="1">
                <a:solidFill>
                  <a:srgbClr val="222222"/>
                </a:solidFill>
              </a:rPr>
              <a:t>nano correct / mini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771BD4-443A-42E7-9BDB-A6F724E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952750"/>
            <a:ext cx="466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cheaper route is also the better route.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02E80-DB54-4C54-94C5-A6A185DE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28E9EB-0031-4C72-A9A6-5A36BCE3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2228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Size-50 sampling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2B990F-E75C-4B16-902E-8110B2BE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B8605-0BF7-453D-9FD1-C35C9773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290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05DEE-9206-42C3-946F-6B1B4EAF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2902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critical share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51E0D9-1AA4-4EA6-82C7-B9EF257E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29025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both-correct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AE9B48-BEC3-4868-9ED0-C8DFD901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29025"/>
            <a:ext cx="1371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accuracy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020E3-F501-4967-B9AA-AE7FD5046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2902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371DA-BDCB-4960-8339-BCE4C6FA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243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F6A32-B1E5-4867-B220-7861C1C7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1955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actively selected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21F515-0442-4EFE-8D37-60E193D7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5B249-E6BE-4EEB-A49C-3936CB26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B8AD77-2137-4ADE-834E-E70CA294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1955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F318C9-86A5-48DF-9EBF-3F2EE88B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DFFA16-3F0C-4729-A979-C19BA321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95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87C586-9F3F-46DF-B458-6224A3DD6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0195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FFBC0C-D20F-4ADB-A092-B951F250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2E6F12-33A7-472B-A56E-04B5FCC0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33900"/>
            <a:ext cx="222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random sample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2AE734-AA03-41CE-9559-65560BCE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BD7030-CDCB-45BC-90F3-C2AEF78C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33900"/>
            <a:ext cx="990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22C196-8113-4630-80DC-6471137B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33900"/>
            <a:ext cx="1466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5B49BF-707B-411D-83D8-3AEA2E82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33900"/>
            <a:ext cx="1657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74%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FFA292-DFA2-40A7-A154-C79C3BB3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5339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73.7%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CF9E0D-07D7-4612-94B6-B148CCF1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533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49.5%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EDCE57-ED51-4300-9374-E587B73F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1495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Random sampling mostly selected easy both-correct cases, pushing the router toward nano and losing 6.3 accuracy points. We therefore oversampled critical cases deliberately.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673EC3-BAB8-471A-B395-BBA1932D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Critical = mini-only + nano-only; sources: half1 trainval50 with-critical split and random-control trainval50 split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2F29066-7A13-4A16-92D9-9FE67C8D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93710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CC9877-A8C1-4718-8409-A8FA0D9E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Prompt-router size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563825-C4F0-4F41-9C6A-37D76326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Larger samples were not automatically better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3ABF0-0943-4E03-AE0B-7F8C74E8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6D080A-5714-40B6-90BF-A6CEB3AA3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391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1B82EB-21BD-4DAA-A4E1-95BD04D3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Size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D3ED15-CF8E-4C43-8DAC-6A53F2FB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mix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6D5CFF-E218-4348-9136-04C9E6F1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5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8A054-065A-439D-B480-3DCA4A45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5737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850B3D-9D7F-48C5-964F-E365B3AC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57375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82F97-A98C-4C91-AA3E-103B159A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Readout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31D61-C4A1-447E-91B5-26C1F09B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B9A54-A4B8-4BB9-9EBC-58AA0786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AF9B40-4629-4886-BFE2-2BF9EAD6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76/0/24/0%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5DF71-F836-442D-9D74-1D0C9D64E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78.5%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E157C-3F0E-4F68-9D9D-BD97C3D6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47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18.6%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7C98F3-121F-40C4-812B-EB0BB569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64/141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800132-CB01-4C67-8E5C-ED819FA4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298E69-EF66-4B1F-BB23-216CE563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908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50F63-99BA-4F2B-B61D-4BC80F36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6860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650283-BEFF-47D3-B865-27D20745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860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38/2/40/20%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6DE490-2F01-4E72-B896-9F43837B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80.0%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67F6D6-9B0F-46F2-BD77-48D78811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12.6%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6D9220-96B8-498C-A0E7-20AB6760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860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45/160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2ABDCE-88D2-4356-922E-14D71710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86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Best accuracy-preserving point: 80.0%, but only 12.6% savings.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95F860-D03A-4639-8451-9B9CE641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289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E2ACB7-862D-4553-94FF-BA3C98CE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1242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A5F26F-321A-44A1-ACE3-916C31B3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242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25/1/57/16%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884759-38D3-4885-923F-AAC5753D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77.6%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8E7792-BE85-4D25-A8FE-0777B5DB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242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31.2%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34920B-429D-4E86-8C05-C47E8FA05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242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109/96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9AC51E-6920-4E85-9F13-C6448C78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242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8613D1-ADED-4ED4-AA0E-F012242C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671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85AE89-C26E-4C31-BF98-B16DFEA4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623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4DF5D3-8481-4125-83A2-9BBEB123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623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19/2/62/17%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F5A037-4735-410B-9923-812B2E61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62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785335-A032-40E4-9F8E-9BCEE1576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5623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43.4%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BB85BC-5F8D-4324-A5A2-AA823037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623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146/59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03E1FD-71BE-4410-8FE6-8598F143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Intermediate trade-off.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654BC55-E869-4C01-B5F3-795EB522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D254BD-7B6F-4224-B2EA-803A120F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125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527F062-92DF-4AB9-92AB-A484F606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15/2/64/18%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2C499B-9408-4FE1-B6BA-079143E0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A7375C-58AF-4FFC-A577-45E840270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67.5%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23448E-FD59-46B6-82FC-3AD1F124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191/14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45FF56-39F8-4FD9-AA4D-301F6D959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386349-0EB6-439E-8A68-6A1C22245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8A3EC62-439A-45AD-87E3-22496EE5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3865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B6A845-8556-4920-9CB6-6826589F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386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13/4/67/16%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07FA23-FC0D-4052-A4F4-C57C99CE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386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A24DD5F-230D-4CC3-90C9-BD34378A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B98C4D9-876B-4A68-94CF-1A3FA7C0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3865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92C8868-60BF-48F5-B605-3911058E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386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904CC9D-F923-4485-83DB-8052616B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E0851F1-36BE-4780-A2AF-C3A1FECA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876800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B7C803-0CE1-4854-999D-5E77093A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10/5/71/15%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2A4769-3F7F-4ADB-A4DE-A6BA34FC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6B1989-3426-4A69-97B1-D8C6DCE5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62.3%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8E1682-F9D6-4020-BFE8-1AE56236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76800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193/12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BD58F7-CFEE-4915-A808-6B8CFD5A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The router became nano-heavy as both-correct dominated.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0CE2CB8-5542-474A-A8FC-8866C5CC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673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Size 50 best preserved accuracy. At larger sizes, the falling critical share and rising both-correct share pushed the router toward nano-heavy policies.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61CAA1-C7A2-4778-9FC7-766741FF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Fixed test set: second-half 205; source: routing_cost_comparison_testdata_hybrid_half1_trainval*_openai.csv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4EE1D9D-A752-4341-93E5-1893FA11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713015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817388-8467-4E50-ACFA-A53BD56B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Random-control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B23D0-94E4-4471-95FC-2BA19DFF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Random controls showed that natural sampling pushed the router toward nano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602E86-83E7-4500-9D2F-C7E369C7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782E47-D7EA-42DC-81AE-D5BD4A80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50AA3-8DB6-4455-A457-57A5CDD7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mini-only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2156DF-8E3B-47D8-B79E-454CA3BC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5D495-3823-4529-A365-65B8296B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nano-only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CDED2B-6420-4E70-84FF-3DFD1182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E4C42-8A69-4ABF-A66A-3C4521FE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correct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28DE7-20B0-43BD-AB49-108E793E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04975"/>
            <a:ext cx="171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CA794-8C51-41B5-952C-E90E3AF08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22222"/>
                </a:solidFill>
              </a:defRPr>
            </a:pPr>
            <a:r>
              <a:rPr sz="975" b="0">
                <a:solidFill>
                  <a:srgbClr val="222222"/>
                </a:solidFill>
              </a:rPr>
              <a:t>both wrong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265E0-7D6E-410D-934E-8A5B0196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FFF95-8417-492A-AA0E-A4BF30725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33600"/>
            <a:ext cx="60579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27D15-434A-4916-B398-47F46F41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81225"/>
            <a:ext cx="54864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F2D612-2709-4375-BF41-743522EB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9790" y="21336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A84CE-43DD-4172-A3D1-3597387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133600"/>
            <a:ext cx="373570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7862B-6DE2-4AEF-B724-6B39FE8D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295" y="2181225"/>
            <a:ext cx="367855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D873BE-26A8-4AE9-B820-3F7F0337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1336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E41E58-14F6-456E-8C47-C474299B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812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229E39-2B34-4069-A535-1EED346E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621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6/2/37/5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76D5D-C2CE-47B8-9E23-AB88D367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62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73.7%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F9C12B-7DC8-4E31-8C8F-03F31F4C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621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49.5%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EF91E-B71C-4527-BC0C-DA3BA958B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1A05F7-FD12-40A9-B114-C2EFD126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81300"/>
            <a:ext cx="504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4D22A8-4E3C-4011-A855-45C9830C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828925"/>
            <a:ext cx="4476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CA9B68-F06D-4C3E-97B4-AB3C29A6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7813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6938F-AD24-4825-AEC0-80516077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2781300"/>
            <a:ext cx="363474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7C2108-178D-4F6C-8A1C-6586267FA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2828925"/>
            <a:ext cx="357759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72%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5F1121-9D03-4329-9BA6-0036BC33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495" y="2781300"/>
            <a:ext cx="70675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D8B95D-BEAE-4E52-B588-6453B2E5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4070" y="2828925"/>
            <a:ext cx="64960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005DA8-048E-47BF-B4AC-1548DA4C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98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10/4/72/14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01727B-4DA0-4F3C-A50B-9B75B4DF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098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75.1%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DFF235-7CD0-4909-8889-5DCE9814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809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43.9%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126C22F-422F-422B-90B0-73F45F76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099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150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60545B-317B-469C-AD35-47CACA6E5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29000"/>
            <a:ext cx="47117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7DCFD5-FA40-4EB9-AB1D-C7025303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476625"/>
            <a:ext cx="41402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9%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6D7947-FDE2-424D-9AD6-1B7D27DC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170" y="3429000"/>
            <a:ext cx="2019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7F106C-92EE-4B58-B314-2B2128C0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100" y="3429000"/>
            <a:ext cx="356743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CAAA38-E2A6-4D89-A211-BCED2D92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5675" y="3476625"/>
            <a:ext cx="351028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910407-D237-4B5A-9ECA-3FB701B6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530" y="3429000"/>
            <a:ext cx="80772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D1A0F2-3578-4627-AB1E-FA62C637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3105" y="3476625"/>
            <a:ext cx="75057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16%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597FE8-1929-41F9-859E-0DFED635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575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14/6/106/24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96DC81-9246-4ED1-AB23-C77C2C0D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575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D725FE1-A8F1-4CDC-B6E3-663343F9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575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E5536F-DE97-40EA-B7D6-66AE4E38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57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random 200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4D7B7E-C062-469A-8E3C-183D91B2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76700"/>
            <a:ext cx="479584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1FB3CD-086D-4A19-8647-3E5479C9E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124325"/>
            <a:ext cx="422434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10%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B351F0-1F18-4241-875D-B68EC5E4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84" y="4076700"/>
            <a:ext cx="227171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785128-AA15-4489-8411-38CCD338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0755" y="4076700"/>
            <a:ext cx="358425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FBF44CF-1210-453E-B136-10733B9A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330" y="4124325"/>
            <a:ext cx="352710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0000"/>
                </a:solidFill>
              </a:defRPr>
            </a:pPr>
            <a:r>
              <a:rPr sz="825" b="1">
                <a:solidFill>
                  <a:srgbClr val="000000"/>
                </a:solidFill>
              </a:rPr>
              <a:t>71%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D840E27-AF7A-4B36-8FC2-87267EF3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5013" y="4076700"/>
            <a:ext cx="757238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AADB521-E422-4DE8-828E-645667B6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588" y="4124325"/>
            <a:ext cx="700088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2DAE29-B78A-430C-9DF2-BA42BB6A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05275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19/9/142/30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5302F6B-7430-4F8D-9B42-38021C80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052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 72.2%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E67E63-2B12-4F4C-A087-CC45D43C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052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save 61.9%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37A741-5050-4763-B122-5DF64EFC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Random50 had only 12% mini-only and 74% both-correct. That is why the random-control router saved more money but lost more accuracy than the critical-heavy size-50 split.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5BC1ACD-104B-413A-AD74-ED9C5302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routing_split_half1_random_control_trainval*.json and routing_cost_comparison_testdata_hybrid_half1_random_control_trainval*.csv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449455E-9B77-4342-B8E1-22E8B82C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52252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056B54-06BA-4E6B-8C21-648EA234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Bucket ablations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07C63B-1864-415F-AB1B-177266F1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size-50 ablations changed risk posture, not just sample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019E1A-1426-4F9A-9611-5074367F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8F70D-97BA-4543-BCE0-CD58C04C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1001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300B03-D3B3-41DF-9DDE-A00DF97E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181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Training mix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4DCB1-40C3-47AA-940A-46B906F4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1276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count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3432D-D1DD-4E99-B78F-1ABA9087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57375"/>
            <a:ext cx="1228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M/N/B/W share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FF785-98FE-421F-B8B4-CEE861E2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59DB0-EB6E-4918-85E7-01F9DC7B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5737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20B79E-6422-4E2B-91F6-E51A3C6B2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57375"/>
            <a:ext cx="1038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test nano/mini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F33704-E195-423F-BA0E-733EF373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57375"/>
            <a:ext cx="2800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Takeaway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7A6CE-894F-416E-96AF-012A26CD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9E73D0-FF48-419D-9052-62DEBCA6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balancedish 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7BDAA-F7A9-4D3B-80F7-3FEDF4B3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2479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13/9/14/14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40C22-9AB6-476F-B2FF-5F47F013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26/18/28/28%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E8D11-F6ED-41FB-8169-8E529235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79.0%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B04A43-606C-401C-9EF0-668545D4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24.3%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0AC686-578E-445F-8900-5CB66491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82/123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9F87E-06C8-4AA2-82B1-89F983E5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479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Most balanced: 79.0% / 24.3%.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88E58-3A68-462D-B93D-95F41973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051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66507-DCF5-4356-B741-CD063531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003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both-correct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A81D62-FBAA-402C-B247-26419C0B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8003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19/0/31/0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02E614-AC4F-4482-857B-E0A95572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38/0/62/0%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399BB0-E3B4-46C9-A79D-3F21064F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76.1%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B6438B-2E60-4F6D-BCB8-F99AF5A3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34.7%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69A24A-67F0-40C9-9DE5-E128F11C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003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122/83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97C11D-64AE-44D5-97C4-BFCA456A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D7836C-811E-48C3-A587-1544A078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9DC209-9447-4C49-B081-C606A5AF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528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critical + both-wrong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C1AF57-1194-4511-882B-A4B1E65B0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3528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19/0/0/31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466026-8C5B-4374-BB54-21435517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3528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38/0/0/62%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527D7B-A583-4D5E-8B46-76FB4F4B2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07BC68-44C7-4960-84A2-8949AD4E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528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24.4%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2E5BB2-C63E-4AAF-98DA-A31A9DD2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528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85/120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612BC0-3762-4110-A5F3-87AF9FEB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528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More conservative, but limited savings.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45AFE1-4B58-4687-B49F-D56A703CA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F4B64A-8823-4997-A34D-9D1BE09F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0525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both-correct heavy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143E984-1948-4402-9512-69FBF52D8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05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5/0/40/5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C23090-519F-44E1-97BA-450CA74F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0525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10/0/80/10%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C6612C5-CF29-43B0-A65E-A44D2BB3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72.2%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C6B7C8-DBAC-4A82-AA51-3B9AAE9E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59.9%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CDC33B-A363-4EC3-8DD6-949D9CF8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0525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185/20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AF2C3F-F099-4749-8EB1-E0C41CEF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Too many cheap-safe examples pushed nano.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BC4CB5-454E-4431-986B-98E8C960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11001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31986B-F188-4128-A9A0-C2070D11A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57700"/>
            <a:ext cx="2181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both-wrong heavy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6D32C0-540A-44F8-B23D-843AC0D0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45770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5/0/14/31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5F13DD-7376-42AF-9C18-7421F7BF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57700"/>
            <a:ext cx="122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10/0/28/62%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557347-46FF-4052-BABE-744B18A0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74.6%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D695E0E-EDB3-4B1A-AF11-A9A9B508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47.3%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549D3C-F63E-4EEE-9488-8B2AAF85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1038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157/48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987347-A55C-4AA2-AA14-597E666D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57700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Shifted risk posture.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108179-44C6-4C6D-AE67-8220AD24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M/N/B/W = mini-only / nano-only / both-correct / both-wrong. The important lever was bucket mix, not merely optimizer choice.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83F682-7175-4AB6-84B1-7984A056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gepa_router_prompt_result_hybrid_half1_ablation50_*.json and corresponding testdata CSV files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D3D740-B37F-416D-8A36-A5301B6E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899731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7620B-40CB-44CC-A8C5-09B5576E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59E48A-657A-4980-8DD6-8D8AA6D0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router turned routing into a small trainable classifier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F789C-B3B5-463C-BF61-BDF8EDF76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8B7D9-3410-49E9-B501-1E9BD1DC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3CD81C-BFE1-4DC0-BCFE-50C1D4D4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FB3C49-9734-419A-8715-4FFD7E8C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Build routing examples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A2337-E5B1-4ABB-A6C0-9D3CC7D4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Each question is paired with mini/nano correctness and cost, then bucketed as mini-only, nano-only, both-correct, or both-wrong.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FA8BE-4F52-4F19-BED0-35E6386D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5DE51-1F80-407B-B3C3-21301218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2CCDD-12F3-47DB-819D-A1C92EA4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Format the input text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B4CE3F-131A-4DDC-9470-19FBAD1B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encoder sees category, source, question, and answer options. These runs did not include the nano answer 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DAD70-972F-4A0B-AC18-BDB7AE55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6AA59C-22E8-44B7-A887-A9FA8D3C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</a:defRPr>
            </a:pPr>
            <a:r>
              <a:rPr sz="2550" b="1">
                <a:solidFill>
                  <a:srgbClr val="FF6B35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AA129-583C-4DAF-B540-B73833BD3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Prepend soft tokens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BC2184-3A97-4AA2-B6DA-C4C82F24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Sixteen learned embedding vectors are concatenated before the token embeddings; they are not readable words.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AEA2A2-28A0-451C-84DC-3D58AA6D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12F5B-BB58-4CCD-9AD2-1FB47116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79D0E8-E8A4-406F-A690-E9C78DF6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Classify the route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49C539-2BE4-433B-947E-2EECC6BB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frozen encoder produces a representation, and a small linear head predicts nano vs mini.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D4AB9-ADD8-45E3-9D59-F8FB84CC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00250"/>
            <a:ext cx="18288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16F0E5-BE2D-4D1F-84DB-C309F286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1717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</a:defRPr>
            </a:pPr>
            <a:r>
              <a:rPr sz="255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9ED9E5-875B-4D31-8E3E-7646B461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86050"/>
            <a:ext cx="148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22222"/>
                </a:solidFill>
              </a:defRPr>
            </a:pPr>
            <a:r>
              <a:rPr sz="1500" b="1">
                <a:solidFill>
                  <a:srgbClr val="222222"/>
                </a:solidFill>
              </a:rPr>
              <a:t>Apply a threshold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2AAB83-5A5E-4EE9-8EDB-B7A4156A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1485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22222"/>
                </a:solidFill>
              </a:defRPr>
            </a:pPr>
            <a:r>
              <a:rPr sz="1125" b="0">
                <a:solidFill>
                  <a:srgbClr val="222222"/>
                </a:solidFill>
              </a:rPr>
              <a:t>The mini probability is compared with a decision threshold; higher threshold routes more examples to nano.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49AB62-C822-49F2-B380-3D682B51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The important shift from prompt GEPA: the policy is no longer a single text instruction. It becomes a learned probability score that can be calibrated after training.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2299DD-4777-4D22-88D6-5A07F76E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Implementation: train_softprompt_router.py; SoftPromptRouter.forward prepends learned embeddings and thresholds the mini probability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F62C84-090C-4099-BE9A-461CFB79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02517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A314CB-E5BF-452D-B438-302F6615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44AD48-C881-43CF-8341-C1ED627E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Backbone and training setup were intentionally small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343ABE-23D2-4906-8EE5-6A38219C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5B956-171A-4853-A4F8-BDBC26E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2828B0-1302-43A5-B19F-902FFA95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01247C-9251-4CE4-B11B-E9C1FBF33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DistilBERT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1E7B2-3AD9-441B-9BEC-B78DF1D3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distilbert-base-uncased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CA71AB-ED41-4A80-847E-55BEAA86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DB385-4EAA-43D6-9FB5-B2A76084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Backbone update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EAA4E-97A0-45C6-BEFA-418A37D9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1FB65-E5C8-4A3F-8C78-16C66C83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train_backbone = false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43A9A-AD45-4731-A408-43EC420E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73346F-9CD5-41F1-9FBB-87DFA4A1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 tokens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37B39F-A674-41A7-8301-47CA06FB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5D96E-8625-4448-9608-3C1835E0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learned prompt embeddings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331062-35CF-43AE-8FED-4027B9BA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0DC66-0627-432A-9C0E-49D35082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Trainable params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AD0BC4-0ABE-498B-9DA6-66078B06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13.8k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AC368-5D59-48B4-AB14-D3EB9A2E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out of 66.4M total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FA82F0-7511-463F-B483-95FA899C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0045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326DA8-5D13-4DE7-B57A-B3398EDC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Component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683A4-21A1-4010-9978-42625032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05225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What it did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F3559-6FFB-46B4-A873-8597F3AC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05225"/>
            <a:ext cx="441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Key setting in best run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5B51D1-F437-4D69-8D25-08F811E8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F7406-16A6-481D-A51E-C37EA944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Input encoder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4FC508-2874-470E-B48A-03D9CE34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957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Tokenized question/options into a transformer sequence.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E0069A-6973-4172-9EA2-2F1D9C7B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max_length 384; no nano-answer text included.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609DA2-6769-4276-BD41-FFAD497E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ACF50-76AD-4DF1-A4CE-BDB6998B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529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Soft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B175FD-B578-44D0-85BD-4188ACFA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529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Added task-specific learned vectors before the real tokens.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0D97E84-001C-4A7B-A430-2E7E80E5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529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 vectors of DistilBERT hidden size.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E33926-1489-4E42-8434-64C06F88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149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FF21A3-853A-462D-9EEB-687A7843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101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Classifier head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8C9D9E-468C-4310-9E15-946998C1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Mapped the encoder state to nano/mini logits.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E2E4F1-C08E-49EF-923A-E7FF7091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101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Linear layer over the first real token state after soft tokens.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54E580-4567-4F5F-B197-78D5619D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721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64F482-DA49-4184-B813-C848BFC9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4673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Training objective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1FF0B3-FF47-4658-9C4C-7897752A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Optimized routing utility rather than just accuracy.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4C2BF7-916C-49B3-8230-5E62A89B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673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expected_utility loss; target mini rate 0.25; mini penalty 0.4.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CA898FD-603D-4B4A-9CDA-A34C0D4C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7B36C52-B6E3-4282-BE06-16A6600F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924550"/>
            <a:ext cx="2038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Decision rule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2B271D-79D2-4804-89C5-23A52E85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924550"/>
            <a:ext cx="3848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Converted mini probability into a discrete route.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4BF11A-6227-49DC-81C4-802E88AF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24550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threshold 0.45 for the selected 205-test run.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B3AB00-71FA-4336-AD38-5BAA22A8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Best-run args: hf_model distilbert-base-uncased, epochs 8, batch 8, learning_rate 0.01, train_backbone false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B319BBA-85AA-46E9-98E7-47AA4A679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8189404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361F48-D3D9-4E66-A5F9-A7AE2386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Soft-prompt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441E53-E898-4CE6-8710-D4CBBA8C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Soft prompt was added as a trainable router after the prompt sweeps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6C28B-E3EE-4454-A55C-7FB65418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78450-19FC-406F-99A9-7FF7BADC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76080F-6AC6-41EC-AA33-95951B74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Model 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B11B6-B5A3-4234-A385-2B16C785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frozen encoder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6F644F-7CF3-4B97-B14B-930F8AB5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trainable soft tokens + classifier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B4B06B-41AB-41A1-AE21-075C0FA8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F5B459-1FAE-40C9-9693-229AAA88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Initial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82DB1-73A1-4928-8BCB-DD946B9B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40 / 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56458-3FA9-4856-B2DC-0A04CEE9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same half1 trainval50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7C2B9F-858B-4CA3-A31C-9BA72B78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863538-B353-4892-88BE-1238D7C8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heldout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C38C7-8D96-426C-85E3-16A1572F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B3ABD-1A2C-4A10-BEF8-00E383A4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205-test 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9B4784-E0D2-4609-9EDF-B24AC75E7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476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0998D-0D56-4C29-B89A-5376D8D0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Best savings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93502-B159-403A-BF2B-8F385DD2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2133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6B35"/>
                </a:solidFill>
              </a:defRPr>
            </a:pPr>
            <a:r>
              <a:rPr sz="2925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A7D54-1F90-4DEA-8BF1-B30589A4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95 nano / 110 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CE5CF-53E4-4C3C-93E7-D61AAF39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11191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8235D5-33FA-44F7-B49D-B7CDCD70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270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Run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F23CDB-9C37-4CFE-BCE9-D87D57AC7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train/val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1B9644-38DD-4E84-AE4C-7AED9481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7814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C2BD96-71E1-4007-B64D-B47E85D9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513705-1DF3-4805-8C93-B9D6E204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814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D9D3BC-D63F-4712-8532-383979BE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81425"/>
            <a:ext cx="847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CDAEC9-53AD-4C7F-81EF-10241C19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81425"/>
            <a:ext cx="6572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critical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4C8D47-1D9C-4D7D-AF49-8E6E1679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81425"/>
            <a:ext cx="2990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2222"/>
                </a:solidFill>
              </a:defRPr>
            </a:pPr>
            <a:r>
              <a:rPr sz="1050" b="1">
                <a:solidFill>
                  <a:srgbClr val="222222"/>
                </a:solidFill>
              </a:rPr>
              <a:t>Interpretation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9A5E51-C6FD-4628-8BC0-3E0E3C5C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767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F1F2C2-26FD-482E-91E2-12FBCAA5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719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half1 trainval50 smoke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2C485C-B8ED-49DB-ABBF-D817033F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40/10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735607-F408-40BB-8A7D-10E8518D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719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BA59C2-D037-4C28-8647-9F7EAE9F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80.0%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F0168C-54A9-40BA-9F2B-133633BD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5.3%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CEE5FA-4218-45F0-8748-25440990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719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14/191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B5E215-F6DE-464B-BC0E-D7004E88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2E9CC8-654C-440D-A41D-1A0BEA12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719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Accuracy-preserving, too conservative.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33E42B-021B-4867-BF19-ED5ADF4C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92408F-DB89-4B86-B6EE-FC08BEFE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2440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balanced50 risk EU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46FB55-0DFB-465C-BA49-CFFE4FBE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38/12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BD332A-9293-4175-BBE0-54AD9036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244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205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FAF23A-A95B-4E62-A109-019A5D15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A2CFCC-1665-4972-A955-8B3EE6D8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0FFCE7-07F2-4492-BC16-4BED1C70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2440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14BF6C-4455-4566-BDC4-F1F79301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2440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D96B77-D6C0-4909-B205-0B85753A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72440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35"/>
                </a:solidFill>
              </a:defRPr>
            </a:pPr>
            <a:r>
              <a:rPr sz="1050" b="1">
                <a:solidFill>
                  <a:srgbClr val="FF6B35"/>
                </a:solidFill>
              </a:rPr>
              <a:t>Best usable trade-off.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F91192-0BCD-4DA0-97F9-B0386C71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11191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E6129A-358C-41D7-94F2-27923776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276850"/>
            <a:ext cx="2705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first205 random50 risk EU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02AD41-3F83-4CAC-81CD-91ED860D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50/0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3A17F1-56B3-4B7A-B6B5-4360B48F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7685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205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18C4D05-BFF9-414E-88C8-C3147139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71.2%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9ACF557-570B-4A8D-B8CD-350B4453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752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63.4%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CEA950F-3A87-4BD9-B97D-FAF508ABB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276850"/>
            <a:ext cx="84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169/36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6BCCDA1-DBCC-45FB-BF35-A60ACAF5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76850"/>
            <a:ext cx="657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24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9263729-67D7-4B87-BA67-5FDBE0E95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276850"/>
            <a:ext cx="2990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Cheap but unsafe.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D76F1F-4182-4834-A8E0-5C3888F1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Sources: softprompt_router_half1_trainval50_test_smoke.json, softprompt_router_balanced50_risk_best_expected_utility_test205.json, softprompt_router_first205_random50_seed0_risk_expected_utility.json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4F67DE6-A63B-4128-A52A-60AF26D4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77163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FE83CF-2D1D-4E1A-BC5B-35EE5DBD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Threshold sweep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F990EF-6B8F-481C-A89D-AA9A0616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The soft-prompt threshold exposed a smoother risk-cost frontier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C4B184-52B0-41E8-9A7E-9D5DD642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A1889-C803-438B-95E2-584AA896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14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671D7-713D-4957-B88D-06C4A313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EC859-491B-4086-ADA1-33CD4294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52625"/>
            <a:ext cx="281146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4A2F69-5E6D-414C-A3BF-C70810CE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FC0B7-A84E-423E-99F9-F835C8CA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05025"/>
            <a:ext cx="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92AF25-EF5B-41B1-8F19-B5373F17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80.5%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9EA5A-1EB9-4085-9690-7D80D927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478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0.0%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D10D6-EF93-4840-967D-21E21857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145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08753B-1765-483C-B1FF-61A80317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8448C5-C305-4980-B92E-334EC3EE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FE290-ECFC-4791-8732-49F65D09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123CC5-4D32-4B76-B6C8-79958368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373261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E233EC-10DF-4532-B5EB-BBFC8BDC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050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278A1F-6B18-4522-B49B-000251411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479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9.5%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CF3FC-7D02-40F3-9932-0D51F50F0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22889-2203-4CC0-98B0-534E01C5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688304-E9FB-44FE-9FD7-4E7DA5F2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815799-7EAB-4839-AFCB-A753EB5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CF6A9-9146-49E1-9218-E65466C7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660083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3F268-CA06-439E-B79D-DE8DC0BE2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051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40412E-9F90-43C0-975C-BFC09BD8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8479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16.8%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31E811-5E13-438D-9772-399045F7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7052F4-F03C-4EB2-84BA-680A0A35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62C819-55C5-429A-84B6-725ADE0C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52775"/>
            <a:ext cx="28638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BFA1FF-0DBA-4111-82A2-F32B27B5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BE78FF-587C-42A9-9258-6836CD9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96654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F5D650-F25D-4A78-8597-AECA7A1E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10515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82.0%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4C679E-FEF5-4CA1-8775-61CC75D4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24802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24.6%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8B6E6B-0296-4EBC-A6BC-6948A4F5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147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22222"/>
                </a:solidFill>
              </a:defRPr>
            </a:pPr>
            <a:r>
              <a:rPr sz="1050" b="0">
                <a:solidFill>
                  <a:srgbClr val="222222"/>
                </a:solidFill>
              </a:rPr>
              <a:t>0.45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26F171-A535-4955-B8AE-4749E3EA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98B9B3-58E9-42B9-AA59-B6B2F76A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52825"/>
            <a:ext cx="28289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83C387-4833-4784-8596-53696515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314325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9B139FB-452A-4840-A9D0-A2579C06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1595199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42ECC6-AD6C-4E14-9D70-E8B8097E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5052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0000"/>
                </a:solidFill>
              </a:defRPr>
            </a:pPr>
            <a:r>
              <a:rPr sz="900" b="0">
                <a:solidFill>
                  <a:srgbClr val="000000"/>
                </a:solidFill>
              </a:rPr>
              <a:t>81.0%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89E6A2-67D3-44C4-90E9-7D414386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48075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FF6B35"/>
                </a:solidFill>
              </a:defRPr>
            </a:pPr>
            <a:r>
              <a:rPr sz="900" b="0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EF9799-7D24-4D49-AF86-33A3734B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500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1563FA-FB52-4397-918E-46249EADF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914525"/>
            <a:ext cx="7524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Threshold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EBB214-EA8B-4BC3-AE2D-EA2901BD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Accuracy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D0BFBE-2E21-4BF9-85AD-910A1C5E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14525"/>
            <a:ext cx="800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Savings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BE280B-0768-42CD-9ABF-ECD3D762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914525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nano/mini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218DA9-7E22-446D-AC2F-FE34A7CD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1914525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22222"/>
                </a:solidFill>
              </a:defRPr>
            </a:pPr>
            <a:r>
              <a:rPr sz="1125" b="1">
                <a:solidFill>
                  <a:srgbClr val="222222"/>
                </a:solidFill>
              </a:rPr>
              <a:t>Mean score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80F027-14FB-40C0-9124-18285F59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2098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B43E9F-7AAF-4874-AB46-595BE7D5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050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0.00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D50234-DA32-46D4-9363-D091D337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80.5%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8EDFD74-C559-4AF2-8A22-E5AD1BF3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3050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378BFEF-C8BA-457E-A085-DCA3F569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3050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0/205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B115F9A-F922-4AF5-8184-79FBEFFA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3050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0.387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EEDB12-A982-4F1B-AF47-7FB2C6D0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7051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B98C23A-16A8-402E-90DE-0207AAB9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0.25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8FED30B-49CE-4D45-AAA6-836FF74A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81.0%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3AD5B01-38B2-4A63-BFBC-2DC8792D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8003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9.5%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E0EB5A2-3EA4-4AA0-A0A1-50554DC5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003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29/176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CA99B1-9ABD-4808-B525-5E5AAB5D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8003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0.460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829C1E-7F96-4B48-919F-41D1008B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004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E0310C-41BC-4087-9251-C15BAD0A4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956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F7A4A9-A7CE-41DB-81DB-90C9898F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D69B50-4614-436B-9BC2-3E6532CA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956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16.8%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76F9785-1968-41A0-881D-C57C11A2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956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46/159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FC23B78-B71A-42A8-AA08-EDC990F9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956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0.505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4FD1BC4-9430-4C8B-9D43-F246C9A4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957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5CD103-EEDD-4DDD-98DF-77C767F9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909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0.35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E613CA9-BF04-4FC4-8B76-520B3B86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82.0%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3CBF57-505A-44AB-AE79-2C508FAC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7909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24.6%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2F3177B-6DCC-4964-8CD4-74CD89675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909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66/139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92464F5-2CA5-4B9A-9069-93A7D4FE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7909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222222"/>
                </a:solidFill>
              </a:defRPr>
            </a:pPr>
            <a:r>
              <a:rPr sz="1200" b="0">
                <a:solidFill>
                  <a:srgbClr val="222222"/>
                </a:solidFill>
              </a:rPr>
              <a:t>0.551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D7B2118-4540-4A36-9DFA-BB7344DBE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91000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12C57B6-5D8B-44EA-BC8C-5BD9509D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752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0.45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A86794C-C05D-4869-95C2-CA7BD68E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81.0%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4FB9A5-1704-4C5B-82BD-8F5E352C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286250"/>
            <a:ext cx="800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40.6%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B5CB329-EBBA-4D68-A34C-7F25877D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286250"/>
            <a:ext cx="990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95/110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0FF46A7-0D4F-4FF6-BCE5-4280236E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286250"/>
            <a:ext cx="895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F6B35"/>
                </a:solidFill>
              </a:defRPr>
            </a:pPr>
            <a:r>
              <a:rPr sz="1200" b="1">
                <a:solidFill>
                  <a:srgbClr val="FF6B35"/>
                </a:solidFill>
              </a:rPr>
              <a:t>0.556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8D45A47-E317-40B1-94E7-CD6316A1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2222"/>
                </a:solidFill>
              </a:defRPr>
            </a:pPr>
            <a:r>
              <a:rPr sz="1650" b="1">
                <a:solidFill>
                  <a:srgbClr val="222222"/>
                </a:solidFill>
              </a:rPr>
              <a:t>Unlike a single prompt, the soft-prompt router can move along a threshold curve. The selected 0.45 point traded one accuracy point for a much larger cost reduction.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8D2AAC0-119B-437E-8312-8D424260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Threshold rows from softprompt_router_balanced50_risk_best_expected_utility_test205.json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B7601AC-1027-4D81-B2D0-535948F3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183301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0EA946-5C75-4C7A-9FDE-627E998A4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773BA1-0355-4EDD-A943-21AF9B45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09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What the combined story says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3C0A2-3EB7-4FDF-8BF1-FD6C77C4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AFE0F-D161-4477-9F9A-BA5F62E9B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763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BDC881-BE79-49BB-A0E2-1C3A1D3F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308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Finding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40644-9D5D-4FAA-A4B4-1455ABD5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3276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4D0AB-941F-40BA-856C-31127BA8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857375"/>
            <a:ext cx="394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2222"/>
                </a:solidFill>
              </a:defRPr>
            </a:pPr>
            <a:r>
              <a:rPr sz="1200" b="1">
                <a:solidFill>
                  <a:srgbClr val="222222"/>
                </a:solidFill>
              </a:rPr>
              <a:t>Implication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2AAE0-812A-4162-A869-55AB79F0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52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A61C25-54E2-4872-9477-9DE2E0DE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479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Data mix dominated the prompt-router behavior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A47ED0-BE97-4F71-AD33-D516A861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mini-only share fell from 76.0% to 9.5% across the size sweep.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CDAAE2-4403-4B00-B582-F744B2D4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479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Do not treat larger train/val size as automatically better.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58169C-C405-44C5-A938-30848840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0A876-EA6B-4FD4-9CBE-3A0F6DEB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9908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Size 50 remained the clean prompt-router anchor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B4CD0F-6501-4B40-B453-553CFF2F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908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80.0% accuracy, 12.6% savings, 45/160 routes.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B13399-22D8-49EC-A30B-6EAA433B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908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It preserved accuracy because critical examples were over-represented.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24400-07DC-4B66-B8CC-9487F3C8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9DD7E7-ADBE-4BC1-B19B-756AD59D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Soft prompt improved the trade-off frontier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9CABF-D5F8-4024-97CE-CBE16339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3380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81.0% accuracy, 40.6% savings, 95/110 routes.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49782-0882-4D81-A5A5-7713DCFE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73380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35"/>
                </a:solidFill>
              </a:defRPr>
            </a:pPr>
            <a:r>
              <a:rPr sz="1275" b="1">
                <a:solidFill>
                  <a:srgbClr val="FF6B35"/>
                </a:solidFill>
              </a:rPr>
              <a:t>Trainable thresholding was more useful than another static prompt variant.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F076E-1A94-414E-8114-EC600F1C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56061-1AE7-47FF-B6A0-182EF22D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47675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Random soft prompt was unsafe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F2E278-17E9-44E1-85C1-77F5E0281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3276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71.2% accuracy, 63.4% savings, 24 critical misroutes.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EBBE95-1FEC-45B3-A30F-BB9F7332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943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222"/>
                </a:solidFill>
              </a:defRPr>
            </a:pPr>
            <a:r>
              <a:rPr sz="1275" b="0">
                <a:solidFill>
                  <a:srgbClr val="222222"/>
                </a:solidFill>
              </a:rPr>
              <a:t>The training mix still matters even with a learned router.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AED120-2170-4ECB-9063-1E7CA469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22222"/>
                </a:solidFill>
              </a:defRPr>
            </a:pPr>
            <a:r>
              <a:rPr sz="1575" b="1">
                <a:solidFill>
                  <a:srgbClr val="222222"/>
                </a:solidFill>
              </a:rPr>
              <a:t>Next experiment: keep the fixed 205-test set, sweep bucket mix and soft-prompt threshold together, and report accuracy loss, cost savings, and critical misroutes as a single scorecard.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A39220-B31C-4602-BE4D-C9F1271FE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055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55555"/>
                </a:solidFill>
              </a:defRPr>
            </a:pPr>
            <a:r>
              <a:rPr sz="900" b="0">
                <a:solidFill>
                  <a:srgbClr val="555555"/>
                </a:solidFill>
              </a:rPr>
              <a:t>Scope: first-half 205 train/validation experiments plus later soft-prompt follow-up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07C7A3-D4A1-4532-9F86-1226805D7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305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55555"/>
                </a:solidFill>
              </a:defRPr>
            </a:pPr>
            <a:r>
              <a:rPr sz="1050" b="0">
                <a:solidFill>
                  <a:srgbClr val="555555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46397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2026-07-14T17:47:49.9860000Z</dcterms:created>
  <dcterms:modified xsi:type="dcterms:W3CDTF">2026-07-14T17:47:49.9860000Z</dcterms:modified>
</coreProperties>
</file>