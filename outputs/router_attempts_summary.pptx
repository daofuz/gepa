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44b72e1a324001" /><Relationship Type="http://schemas.openxmlformats.org/officeDocument/2006/relationships/extended-properties" Target="/docProps/app.xml" Id="Re0f6379c69e94103" /><Relationship Type="http://schemas.openxmlformats.org/officeDocument/2006/relationships/officeDocument" Target="/ppt/presentation.xml" Id="R153a4cdba7a441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ab891c7d434dc0"/>
  </p:sldMasterIdLst>
  <p:notesMasterIdLst>
    <p:notesMasterId xmlns:r="http://schemas.openxmlformats.org/officeDocument/2006/relationships" r:id="Rdff5216c65ec4368"/>
  </p:notesMasterIdLst>
  <p:sldIdLst>
    <p:sldId xmlns:r="http://schemas.openxmlformats.org/officeDocument/2006/relationships" id="256" r:id="R3551ac8e0f6e4777"/>
    <p:sldId xmlns:r="http://schemas.openxmlformats.org/officeDocument/2006/relationships" id="257" r:id="R77703743a970469d"/>
    <p:sldId xmlns:r="http://schemas.openxmlformats.org/officeDocument/2006/relationships" id="258" r:id="R87c77cd1d347429c"/>
    <p:sldId xmlns:r="http://schemas.openxmlformats.org/officeDocument/2006/relationships" id="259" r:id="R5dbeaf1448cc4cea"/>
    <p:sldId xmlns:r="http://schemas.openxmlformats.org/officeDocument/2006/relationships" id="260" r:id="Rd204da3166e34d0f"/>
    <p:sldId xmlns:r="http://schemas.openxmlformats.org/officeDocument/2006/relationships" id="261" r:id="R75fb132f25a845ed"/>
    <p:sldId xmlns:r="http://schemas.openxmlformats.org/officeDocument/2006/relationships" id="262" r:id="Rea88780697be41cb"/>
    <p:sldId xmlns:r="http://schemas.openxmlformats.org/officeDocument/2006/relationships" id="263" r:id="R0a519ac3ad7b49d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8816e2a4984870" /><Relationship Type="http://schemas.openxmlformats.org/officeDocument/2006/relationships/slideMaster" Target="/ppt/slideMasters/slideMaster1.xml" Id="R06ab891c7d434dc0" /><Relationship Type="http://schemas.openxmlformats.org/officeDocument/2006/relationships/notesMaster" Target="/ppt/notesMasters/notesMaster1.xml" Id="Rdff5216c65ec4368" /><Relationship Type="http://schemas.openxmlformats.org/officeDocument/2006/relationships/presProps" Target="/ppt/presProps.xml" Id="Rce12653f7f51411a" /><Relationship Type="http://schemas.openxmlformats.org/officeDocument/2006/relationships/tableStyles" Target="/ppt/tableStyles.xml" Id="Re8df977c45364328" /><Relationship Type="http://schemas.openxmlformats.org/officeDocument/2006/relationships/slide" Target="/ppt/slides/slide1.xml" Id="R3551ac8e0f6e4777" /><Relationship Type="http://schemas.openxmlformats.org/officeDocument/2006/relationships/slide" Target="/ppt/slides/slide2.xml" Id="R77703743a970469d" /><Relationship Type="http://schemas.openxmlformats.org/officeDocument/2006/relationships/slide" Target="/ppt/slides/slide3.xml" Id="R87c77cd1d347429c" /><Relationship Type="http://schemas.openxmlformats.org/officeDocument/2006/relationships/slide" Target="/ppt/slides/slide4.xml" Id="R5dbeaf1448cc4cea" /><Relationship Type="http://schemas.openxmlformats.org/officeDocument/2006/relationships/slide" Target="/ppt/slides/slide5.xml" Id="Rd204da3166e34d0f" /><Relationship Type="http://schemas.openxmlformats.org/officeDocument/2006/relationships/slide" Target="/ppt/slides/slide6.xml" Id="R75fb132f25a845ed" /><Relationship Type="http://schemas.openxmlformats.org/officeDocument/2006/relationships/slide" Target="/ppt/slides/slide7.xml" Id="Rea88780697be41cb" /><Relationship Type="http://schemas.openxmlformats.org/officeDocument/2006/relationships/slide" Target="/ppt/slides/slide8.xml" Id="R0a519ac3ad7b49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2b309aeca2f48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9c57785aae4eb7" /><Relationship Type="http://schemas.openxmlformats.org/officeDocument/2006/relationships/notesMaster" Target="/ppt/notesMasters/notesMaster1.xml" Id="R069ca2173c8f4e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04a9938d544ff7" /><Relationship Type="http://schemas.openxmlformats.org/officeDocument/2006/relationships/notesMaster" Target="/ppt/notesMasters/notesMaster1.xml" Id="Rba5b335297774d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bf858f73fd4548" /><Relationship Type="http://schemas.openxmlformats.org/officeDocument/2006/relationships/notesMaster" Target="/ppt/notesMasters/notesMaster1.xml" Id="R90e57de1f7624d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5d060399e94571" /><Relationship Type="http://schemas.openxmlformats.org/officeDocument/2006/relationships/notesMaster" Target="/ppt/notesMasters/notesMaster1.xml" Id="R001194a047a34e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32e72a28f7432f" /><Relationship Type="http://schemas.openxmlformats.org/officeDocument/2006/relationships/notesMaster" Target="/ppt/notesMasters/notesMaster1.xml" Id="Ra57f418c5fa045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d50b0f7a16c4a20" /><Relationship Type="http://schemas.openxmlformats.org/officeDocument/2006/relationships/notesMaster" Target="/ppt/notesMasters/notesMaster1.xml" Id="R012c2f25f5e34b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9cdc2157744cb0" /><Relationship Type="http://schemas.openxmlformats.org/officeDocument/2006/relationships/notesMaster" Target="/ppt/notesMasters/notesMaster1.xml" Id="Rcfbd4320eb0a43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153e7bd5734748" /><Relationship Type="http://schemas.openxmlformats.org/officeDocument/2006/relationships/notesMaster" Target="/ppt/notesMasters/notesMaster1.xml" Id="R952cabb9f45e42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1abdca036941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8d96e817b94a45" /><Relationship Type="http://schemas.openxmlformats.org/officeDocument/2006/relationships/slideLayout" Target="/ppt/slideLayouts/slideLayout1.xml" Id="R33ed0a7a821a46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ed0a7a821a46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34f4f1558b4eef" /><Relationship Type="http://schemas.openxmlformats.org/officeDocument/2006/relationships/notesSlide" Target="/ppt/notesSlides/notesSlide1.xml" Id="R4f35cf297e7044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2ddd9b54f24d75" /><Relationship Type="http://schemas.openxmlformats.org/officeDocument/2006/relationships/notesSlide" Target="/ppt/notesSlides/notesSlide2.xml" Id="R49c49c710de341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ced843488d42e1" /><Relationship Type="http://schemas.openxmlformats.org/officeDocument/2006/relationships/notesSlide" Target="/ppt/notesSlides/notesSlide3.xml" Id="Rdf2a3841538447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7f1775b4484a62" /><Relationship Type="http://schemas.openxmlformats.org/officeDocument/2006/relationships/notesSlide" Target="/ppt/notesSlides/notesSlide4.xml" Id="Ra684524a8b3348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319655b4d14ec9" /><Relationship Type="http://schemas.openxmlformats.org/officeDocument/2006/relationships/notesSlide" Target="/ppt/notesSlides/notesSlide5.xml" Id="R5a40b0a5546948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b68f44bb64bbf" /><Relationship Type="http://schemas.openxmlformats.org/officeDocument/2006/relationships/notesSlide" Target="/ppt/notesSlides/notesSlide6.xml" Id="R1796325fdede44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9ee059759b42df" /><Relationship Type="http://schemas.openxmlformats.org/officeDocument/2006/relationships/notesSlide" Target="/ppt/notesSlides/notesSlide7.xml" Id="R106ad892511c4b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bde3d2049f4244" /><Relationship Type="http://schemas.openxmlformats.org/officeDocument/2006/relationships/notesSlide" Target="/ppt/notesSlides/notesSlide8.xml" Id="Ra90b9af5f3c94b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78FCA7-70FF-49DB-919F-AA7B5219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857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00000"/>
                </a:solidFill>
              </a:defRPr>
            </a:pPr>
            <a:r>
              <a:rPr sz="4650" b="1">
                <a:solidFill>
                  <a:srgbClr val="000000"/>
                </a:solidFill>
              </a:rPr>
              <a:t>路由实验复盘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867C12-BB52-44E1-9B2E-CDAB7B08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</a:defRPr>
            </a:pPr>
            <a:r>
              <a:rPr sz="1950" b="0">
                <a:solidFill>
                  <a:srgbClr val="222222"/>
                </a:solidFill>
              </a:rPr>
              <a:t>从 prompt router 到 token/risk-averse 与 soft prompt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132717-A7E3-4121-9DE4-C261B2F4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48121-1C12-4269-A886-C1A4FB80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25717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764C17-ABBC-4B59-99D0-CF7CEC85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289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9BCAEC-73BC-4C81-97A9-994C2614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147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MMLU-Pro 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7ED122-5C74-4A6E-8A65-A638039F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671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mini / nano 二选一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0F2EB4-2875-45CF-85F5-D57F6406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57500"/>
            <a:ext cx="25717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2358D2-E3A1-4AD3-AB6C-6E3D1A46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289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最大样本池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4D307D-C352-401E-837D-3101B502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3147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410 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2ED7E8-48F5-4DE2-BE70-0E8E90C0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671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first half 205 + test 205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17C936-333C-4E2A-BAE3-6D2FDEB9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57500"/>
            <a:ext cx="25717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2EB6B0-68D3-4D7C-BCC8-3E1B5920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289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最好准确率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1DE61E-4413-4F04-9289-7F1AAB10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147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6B35"/>
                </a:solidFill>
              </a:defRPr>
            </a:pPr>
            <a:r>
              <a:rPr sz="3225" b="1">
                <a:solidFill>
                  <a:srgbClr val="FF6B35"/>
                </a:solidFill>
              </a:rPr>
              <a:t>85.5%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D7DDB4-6579-4FFA-B34A-0D8C4CBE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671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310 题；-1.0pp vs all-mini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93CCA6-D16B-4789-8C3E-ACDD186D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57500"/>
            <a:ext cx="25717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E91430-D7EA-4FFE-826F-E8D700D2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289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最高节省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EF2543-BB16-4E28-A832-2E403097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147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6B35"/>
                </a:solidFill>
              </a:defRPr>
            </a:pPr>
            <a:r>
              <a:rPr sz="3225" b="1">
                <a:solidFill>
                  <a:srgbClr val="FF6B35"/>
                </a:solidFill>
              </a:rPr>
              <a:t>71.7%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6AE7A9-855F-42D2-884B-B13AC75E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8671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310 题；-2.9pp vs all-mini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5DC275-28A4-42C2-A62D-D6ECC7DA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22222"/>
                </a:solidFill>
              </a:defRPr>
            </a:pPr>
            <a:r>
              <a:rPr sz="1725" b="1">
                <a:solidFill>
                  <a:srgbClr val="222222"/>
                </a:solidFill>
              </a:rPr>
              <a:t>主结论：最好的方向不是单纯追求更便宜，而是在“避免 critical misroute”和“保留 nano 的成本优势”之间设定风险姿态。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240FD1-E1BD-427D-A2BC-7EF46EE8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来源：routing_cost_comparison_*.csv、routing_split_*.json、softprompt_router_*.json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DE9D85-191D-4FBF-93EA-808EE335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251478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2F0411-3308-45C6-9664-8EC09F05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数据与基线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585170-D903-4E9C-B86E-A8ADEDA4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实验口径先固定，否则指标会互相误导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6FC2D2-E569-4813-8082-4C809C05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DFD5B1-421E-4C6E-A809-65A24CB2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2381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EA2022-94CC-495B-AF1A-643E99D2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240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模型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8AF619-C1A4-46AD-839A-771BE0B2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mini vs nano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27D6B6-4FA4-4A70-9F4E-A354A7C5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62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mini 更准更贵，nano 更便宜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4A9D59-FC04-43C7-866D-A481376D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752600"/>
            <a:ext cx="2381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A91F38-F160-42B1-BC2B-153BB725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9240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成本价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076E28-23CB-45DD-97A7-B21D80D9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2098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4x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FE34FD-03B0-4E5C-A480-EFC709F3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62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mini input/output 均为 nano 的 4 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6F60CB-CDC2-42B6-82D8-E48BC3E5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52600"/>
            <a:ext cx="2381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0B4011-40FB-4B64-91AC-C68FB3E4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240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主 split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A34836-202D-4D2A-B2D1-F8E9FB38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098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205 / 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2087E7-082E-4F1D-A327-0A3E775E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62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first half 做 train/val，second half 做 test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064D9D-0608-4852-BC3B-E5D263CE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52600"/>
            <a:ext cx="2381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D821D5-5DA2-42BA-9E7D-5D792F12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240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候选目标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59E5E2-518E-44B6-91F2-FFC9ECD7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098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oracle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4D0B3C-4DA9-43FB-A0B6-1EA4D340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62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已知每题两模型对错后的上界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958777-321E-4447-B8DB-B29D698A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8143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EDE7FF-9EBC-4572-8438-ABD02A4E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290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测试口径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87676A-2B7A-43C1-93E7-277A7859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29050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all-mini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872091-3B13-426B-AC88-770FB5C2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829050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all-nano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3EE154-A130-49B1-9D68-243116E0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829050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oracle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B3DDBC-BE11-434A-9214-628CA257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8290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可省成本上界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FE11C5-CA2C-4A4F-97B3-39854329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33850"/>
            <a:ext cx="814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B1C37C-57F6-4D0E-9E2D-E1694AB4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386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360 题早期测试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2709DA-522B-4232-9B84-9F64BB03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2386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84.7%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39360F-B97D-4B8B-B9A8-75D275B2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2386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76.7%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F82E4F-F5B4-4067-8359-1614FEBA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386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85.6%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C2FFCC-0BF6-48B8-959A-D315526A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2386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66.4%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DBE037-058E-4100-BF10-A476784C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0100"/>
            <a:ext cx="814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D8A04B-A76E-4366-B3E7-3BCA1A84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1487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205 题 half1 test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498961-AD25-44C4-A573-C22835F0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1487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80.5%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EDF335-06AC-4010-A089-2A291BE2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71487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71.2%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F7E244-3710-434C-8E69-A52DDD50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71487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83.9%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CB0A2E-7EF5-4BDF-8C8B-4BCE0B8C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7148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64.2%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F876DC-0859-4C12-B4ED-48F33CEA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86350"/>
            <a:ext cx="814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2720B17-32A4-4AB5-BA8D-89B7F671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911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310 题 token/risk 口径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A82867C-313B-483D-B4DB-03FECBA6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1911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86.5%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E73F404-0C9A-452F-B31D-5935CE29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51911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83.2%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272A934-330C-42C2-A0C8-37C917FF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1911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86.5%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67FA802-E4DF-4D10-99A5-0C8F3FD8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51911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71.4%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F8A798D-3869-440B-A5C5-FA2EA0DF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9052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31B7E16-E792-43E7-B423-047548D8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905250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不同测试集大小不同，绝对准确率不能直接横比。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B9AA386-A3AC-4D5A-BFB7-A27507EA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2862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EF95EC4-42A2-4F1D-BCA0-99172722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286250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真正要看的是相对 all-mini 的准确率损失和成本节省。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37305EE-8AE6-45BD-83BC-54B2F017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6672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EB77089-D99A-4CC2-A211-DA09971E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667250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oracle 显示：理论上有很大 nano 空间。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E1A5553-46A7-4F72-AB28-832DD45E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基线来自 routing_cost_comparison_testdata_pareto_ollama.csv、hybrid_half1_trainval50_openai.csv、token_targeted_risk_averse_openai.csv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FE037E7-98CC-4F4F-A431-A68BC5EC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293542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3FF01D-6F08-4A59-B3FB-B7E039C1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第一阶段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90E2CB-2042-4CFC-AE97-2DA65000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早期 GEPA prompt router 证明可行，但 trade-off 还不稳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2CFE88-C2D4-41E3-8D8C-D1F12788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416C92-B1B7-4875-B21C-67DD5939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0810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F7496E-2A99-4B5E-BE25-A8C91611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669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口径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87B0B2-4997-47DB-B9BF-7CAC0431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8669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策略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A0AA86-DAD4-448E-852A-DEC8A1A0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8669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准确率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FAA563-6B67-4FAA-B600-8328EB51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8669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节省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B86E65-A70B-48FC-A0B7-6899AC26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6690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nano/mini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9394FA-CA35-4E1C-A399-A478BD5F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18669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解释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5EBAC7-0587-4940-BDF9-4459E46B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1081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DA0590-326D-461C-9755-3DFB611E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76475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360 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B20690-17A7-427B-907E-CDBC9AB6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276475"/>
            <a:ext cx="123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GEPA Pareto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69FB2B-76AB-4E53-ABEA-45B39548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76475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79.2%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624D96-4A79-43C3-B2B9-7E8D32CD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276475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55.1%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A28744-12C4-474A-9202-77DC92EB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76475"/>
            <a:ext cx="1095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298/62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33BD7B-70B0-46A0-8535-5BBB9E75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276475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省钱明显，但比 all-mini 低 5.6pp。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E916BA-8AFD-4DC3-A11A-BF776BFF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1081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7AE7F5-8D17-43B2-8C70-81134A4A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86075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205 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AA25DB-54BE-45AD-BE1E-D6A8D9D9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86075"/>
            <a:ext cx="123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GEPA trainval50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3C7D50-F611-4536-8FA0-877D8938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86075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80.0%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6FE30A-5AC7-49FD-9CEC-CFCAC03B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86075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12.6%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1C7D97-A416-4EC0-93B9-C3F202F7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86075"/>
            <a:ext cx="1095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45/160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1AD8E7-CD54-420E-B0B9-65297E6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886075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准确率几乎贴近 all-mini，但成本收益较小。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436B4F-4344-4938-BE79-E67A82E4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1081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A2D4DA-EB49-4D1A-855D-35569E64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95675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205 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982CCE-872E-42E4-BA8B-C0919F18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495675"/>
            <a:ext cx="123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OpenEvolve trainval50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05E5DC-1F92-4695-A4F4-3B8CA049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495675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80.5%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062517-4E60-44C0-B409-5C026036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495675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2.5%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A23EE5-74DE-4E4B-814D-3011338D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95675"/>
            <a:ext cx="1095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11/194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0A7D21-45CA-40AF-929F-0D582F0B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495675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非常保守，几乎退回 all-mini。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CE81F0-D847-4725-9A55-7933D86E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1081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721EAE-FEE8-4D19-9B00-A2A9CAAA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05275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205 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59F610-42E0-44AC-BAC0-0E0940E6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105275"/>
            <a:ext cx="123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AdaEvolve trainval50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0D7B23-8C55-4D85-8350-4B749161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105275"/>
            <a:ext cx="85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74.6%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F6EF24-2760-4F82-A782-5036719D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105275"/>
            <a:ext cx="76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45.3%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43C8FC-F3E4-4771-9B76-6D31B812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05275"/>
            <a:ext cx="1095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149/56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8AEC85-D187-40BB-A03C-9CCC4E0A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105275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更便宜，但 critical 风险偏高。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B11425-6B50-47CF-8CE3-83C0E751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050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Pareto 360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3FCE310-5D03-4047-A32A-54F3FFF6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24050"/>
            <a:ext cx="1866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8980DA4-A377-4A97-AF7E-995B7368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24050"/>
            <a:ext cx="1642872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D93254C-3AB6-4551-967D-89F1E643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76450"/>
            <a:ext cx="1866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FD01225-4268-4907-A13A-11138B0D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76450"/>
            <a:ext cx="1285827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C34CF6F-235D-499B-8597-4302057A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18764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00000"/>
                </a:solidFill>
              </a:defRPr>
            </a:pPr>
            <a:r>
              <a:rPr sz="975" b="0">
                <a:solidFill>
                  <a:srgbClr val="000000"/>
                </a:solidFill>
              </a:rPr>
              <a:t>79.2%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8E3D1B2-0E11-4618-8542-652ACF79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0288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6B35"/>
                </a:solidFill>
              </a:defRPr>
            </a:pPr>
            <a:r>
              <a:rPr sz="975" b="0">
                <a:solidFill>
                  <a:srgbClr val="FF6B35"/>
                </a:solidFill>
              </a:rPr>
              <a:t>55.1%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EA0F37C-86D9-411B-9E06-4DF5FEEC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71713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GEPA 50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3228409-9C42-4911-8705-7B642FE1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90763"/>
            <a:ext cx="1866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B18E1E0-B933-45E3-9D74-B2C58C7C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90763"/>
            <a:ext cx="1659467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9EAFEA4-9F62-45D3-8BA9-7BCA2524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43163"/>
            <a:ext cx="1866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5008562-7343-4629-A8E6-C9FD169D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43163"/>
            <a:ext cx="294037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C610F35-FC50-4009-9E31-B74501D5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243138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00000"/>
                </a:solidFill>
              </a:defRPr>
            </a:pPr>
            <a:r>
              <a:rPr sz="975" b="0">
                <a:solidFill>
                  <a:srgbClr val="000000"/>
                </a:solidFill>
              </a:rPr>
              <a:t>80.0%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1D16B70-CCC5-4930-9B4F-73761071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95538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6B35"/>
                </a:solidFill>
              </a:defRPr>
            </a:pPr>
            <a:r>
              <a:rPr sz="975" b="0">
                <a:solidFill>
                  <a:srgbClr val="FF6B35"/>
                </a:solidFill>
              </a:rPr>
              <a:t>12.6%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3761ACB-6B66-4DC3-A722-40DF7A74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384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OpenEvolve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644AC12-5CB3-47A5-A08F-2C277D47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57475"/>
            <a:ext cx="1866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38FBB6E-F058-4481-8F5E-71F5BF1F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57475"/>
            <a:ext cx="1669838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A5A2BB3-E0E5-43F0-BEE1-B65F8A59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09875"/>
            <a:ext cx="1866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DF25B4F-689B-4384-A177-74F46BC6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09875"/>
            <a:ext cx="5834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4DB3478-A406-4C6F-B30F-2F790A12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6098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00000"/>
                </a:solidFill>
              </a:defRPr>
            </a:pPr>
            <a:r>
              <a:rPr sz="975" b="0">
                <a:solidFill>
                  <a:srgbClr val="000000"/>
                </a:solidFill>
              </a:rPr>
              <a:t>80.5%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DEF0AD6-01B6-47FB-B6F6-A9729E5E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7622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6B35"/>
                </a:solidFill>
              </a:defRPr>
            </a:pPr>
            <a:r>
              <a:rPr sz="975" b="0">
                <a:solidFill>
                  <a:srgbClr val="FF6B35"/>
                </a:solidFill>
              </a:rPr>
              <a:t>2.5%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2B0F8F8-9DF2-406F-86D3-F1F4F6AA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05138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AdaEvolve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A2B8B13-F3CC-46B2-B95F-6142C6BE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24188"/>
            <a:ext cx="1866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C8377E8-2128-4C80-BA08-D1D08F0A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24188"/>
            <a:ext cx="1547453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7399CDB-5086-4757-B1DA-48E931F9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76588"/>
            <a:ext cx="1866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7A51740-E7BF-4279-ACFB-AFDF9E3A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76588"/>
            <a:ext cx="1057132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C44B31B-FAAD-46E7-A028-A46919C5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976563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00000"/>
                </a:solidFill>
              </a:defRPr>
            </a:pPr>
            <a:r>
              <a:rPr sz="975" b="0">
                <a:solidFill>
                  <a:srgbClr val="000000"/>
                </a:solidFill>
              </a:rPr>
              <a:t>74.6%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7965A15-C8F5-419F-9346-C3B19978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128963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6B35"/>
                </a:solidFill>
              </a:defRPr>
            </a:pPr>
            <a:r>
              <a:rPr sz="975" b="0">
                <a:solidFill>
                  <a:srgbClr val="FF6B35"/>
                </a:solidFill>
              </a:rPr>
              <a:t>45.3%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5D27478-FD89-43CE-A880-650A88A6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67100"/>
            <a:ext cx="171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AECF83A-920D-4F0C-A973-A0235558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40042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准确率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65193BF-312F-46B1-872E-60FC8A9E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67100"/>
            <a:ext cx="171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70ECD6B-4156-41D3-ADEE-7EC5D9CF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4004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成本节省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17BD0EE-6414-432C-95C7-A456D923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阶段性判断：GEPA 能学到“什么时候该省”，但如果 objective 没有强约束 critical misroute，会在准确率和成本之间摆动。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773C7A7-A63B-4AD4-8142-5E74F9A2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来源：routing_cost_comparison_testdata_pareto_ollama.csv、hybrid_half1_trainval50_openai.csv、openevolve/adaevolve 对照 CSV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BFA942B-404E-4239-9CAA-0B9BC0F8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87434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B63E79-A1D8-4A11-BABB-DE0E4183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GEPA sweep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BD1A04-2E16-488F-8A76-4D877961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增加 train/val 数量没有单调改善，50 题反而最稳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5D50E4-7B98-419D-AD56-713F51E3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935192-9BF4-4BD4-B795-B3B41F84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70008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7CDB3E-051B-41EF-BEDD-9BB7A5DF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66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train/val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A546D1-E11D-490F-8C36-6581C5BA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866900"/>
            <a:ext cx="809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准确率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A901B0-85CE-4903-934F-99AC6566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1866900"/>
            <a:ext cx="809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节省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00C85C-9087-4DC1-96A1-FC417B26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866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nano/mini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A69C75-5ACB-410C-AD14-19C420C7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866900"/>
            <a:ext cx="2524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观察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3C1802-9491-47C9-876A-D7CB7355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700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4A6DA0-56CF-4897-9AC5-458EEAA7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76475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27119C-0006-4C3C-B271-EAD94FFA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276475"/>
            <a:ext cx="809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78.5%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FE10C7-5CF6-44AE-8D7E-C21888F3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276475"/>
            <a:ext cx="809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18.6%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9A308E-39D2-426B-B3C5-7BD6F0CC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76475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64/141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2CAE72-1E15-457B-BBD0-B311F95A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76475"/>
            <a:ext cx="2524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保守程度适中，少量掉点。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357919-CB20-43DE-ABDF-92B64985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28900"/>
            <a:ext cx="700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5AD7D2-722A-4937-A13C-F45A35E4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33675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50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180595-26CB-4BB2-B4F0-659A7178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733675"/>
            <a:ext cx="809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80.0%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818D58-9840-4189-9143-99AF6D31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733675"/>
            <a:ext cx="809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12.6%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7DFD12-EC15-46BC-874F-EAA6B323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33675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45/160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D6C9FA-E305-4A0E-B902-7E0B32DB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733675"/>
            <a:ext cx="2524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准确率最接近 all-mini。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CC6A78-A567-40C6-A4D0-BEC8ACC9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86100"/>
            <a:ext cx="700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5D79F5-E417-47E7-97EB-5A0E0681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90875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A4FE78-A005-4D53-A51A-57CDB6F9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90875"/>
            <a:ext cx="809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77.6%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F3DF76-0B5B-4C39-9024-9EC0754F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190875"/>
            <a:ext cx="809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31.2%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653E3B-56D9-4D72-BB66-597FA5CB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90875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109/96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26E9C8-47BB-49A2-B03D-93C7E7EE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90875"/>
            <a:ext cx="2524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开始更激进。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AC679C-9D7A-44EA-BDBD-8FFBCAB3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43300"/>
            <a:ext cx="700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E9F6DE-22F1-49A4-AF1F-DE321E43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48075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100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D5BE5C-442E-4AA4-8D17-3FBD5BBB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48075"/>
            <a:ext cx="809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76.1%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6C734F-B1C0-4447-B8DB-8DBE5ACB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648075"/>
            <a:ext cx="809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43.4%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C75BA9-57AC-4429-87CD-DC9974DB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48075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146/59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D6E5ED-AD31-4D73-8855-F72AC32F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48075"/>
            <a:ext cx="2524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省钱增加，准确率下滑。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48B9DC-6280-4D77-8180-2ECC1E25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700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FAB660-66D6-4DCE-9B23-21EEB3EF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05275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125-200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4B5F448-FEAA-4600-86C0-740E7DD5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105275"/>
            <a:ext cx="809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72.2%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584B5C-15F0-4D80-9E4B-FDAE0257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105275"/>
            <a:ext cx="809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62-68%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690AF0-9BA7-488B-BEB5-B1563D3A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105275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约 192/13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EB59D8F-61F2-42B0-97B8-51AFDC99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05275"/>
            <a:ext cx="2524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几乎变成 nano-heavy。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2063AE0-5757-42E9-B671-1B0BA52C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7335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FC99AC9-781D-498F-88B4-68663754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752600"/>
            <a:ext cx="25050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124CE2C-D5EE-4FF2-BD3C-6AFD4C40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752600"/>
            <a:ext cx="2184982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B79B261-A28D-46D2-8180-142CF98A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905000"/>
            <a:ext cx="25050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8A39BED-67E4-4DDC-97F7-F359B1A0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905000"/>
            <a:ext cx="58243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F93E1F1-1F4B-41BA-8814-F613A763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17049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00000"/>
                </a:solidFill>
              </a:defRPr>
            </a:pPr>
            <a:r>
              <a:rPr sz="975" b="0">
                <a:solidFill>
                  <a:srgbClr val="000000"/>
                </a:solidFill>
              </a:rPr>
              <a:t>78.5%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0AFD590-A94F-4043-8EC6-E8041D87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1857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6B35"/>
                </a:solidFill>
              </a:defRPr>
            </a:pPr>
            <a:r>
              <a:rPr sz="975" b="0">
                <a:solidFill>
                  <a:srgbClr val="FF6B35"/>
                </a:solidFill>
              </a:rPr>
              <a:t>18.6%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83AD566-7DC5-4B88-B46E-81A87402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100263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6E9D37C-E949-4D58-9901-F355ED14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119313"/>
            <a:ext cx="25050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E080400-6DCD-4243-AA60-5FE5099C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119313"/>
            <a:ext cx="2226733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0AFA5BA-3206-416F-BC65-DEF646CE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271713"/>
            <a:ext cx="25050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F61F5DD-C3CD-4194-B1E6-488AD7DE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271713"/>
            <a:ext cx="394549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A014862-6C06-4D21-BAB9-18B76E35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071688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00000"/>
                </a:solidFill>
              </a:defRPr>
            </a:pPr>
            <a:r>
              <a:rPr sz="975" b="0">
                <a:solidFill>
                  <a:srgbClr val="000000"/>
                </a:solidFill>
              </a:rPr>
              <a:t>80.0%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930F5B2-FB4E-4128-BC36-E2C09126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224088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6B35"/>
                </a:solidFill>
              </a:defRPr>
            </a:pPr>
            <a:r>
              <a:rPr sz="975" b="0">
                <a:solidFill>
                  <a:srgbClr val="FF6B35"/>
                </a:solidFill>
              </a:rPr>
              <a:t>12.6%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2802BD7-CDCF-41B2-A7B2-F029E030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4669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F21B624-F900-4081-8683-FE1919F2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486025"/>
            <a:ext cx="25050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0A01F53-0D96-4D7D-8D29-900112A1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486025"/>
            <a:ext cx="215993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317D7B0-E4AB-48AA-9594-26DAF271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638425"/>
            <a:ext cx="25050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16AE623-CD71-4492-8C87-7710F380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638425"/>
            <a:ext cx="976979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E9AD6D5-6919-460E-8041-A858D9DD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4384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00000"/>
                </a:solidFill>
              </a:defRPr>
            </a:pPr>
            <a:r>
              <a:rPr sz="975" b="0">
                <a:solidFill>
                  <a:srgbClr val="000000"/>
                </a:solidFill>
              </a:rPr>
              <a:t>77.6%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5AC3579-DE3B-4995-A850-A00EAC6D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5908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6B35"/>
                </a:solidFill>
              </a:defRPr>
            </a:pPr>
            <a:r>
              <a:rPr sz="975" b="0">
                <a:solidFill>
                  <a:srgbClr val="FF6B35"/>
                </a:solidFill>
              </a:rPr>
              <a:t>31.2%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92D414C-2BFD-4032-B998-A3F1CDFD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833688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100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130846F-E7C4-4413-A3A6-73AB0AEE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852738"/>
            <a:ext cx="25050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EFDC30D-42A8-45C4-A8EA-69766B0C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852738"/>
            <a:ext cx="211818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8567039-A687-4B6D-8BE7-4964B556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005138"/>
            <a:ext cx="25050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EABEA61-8EC4-4C52-842C-6A1AD195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005138"/>
            <a:ext cx="1359003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DDDC1A1-4716-477A-9538-2E76685C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05113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00000"/>
                </a:solidFill>
              </a:defRPr>
            </a:pPr>
            <a:r>
              <a:rPr sz="975" b="0">
                <a:solidFill>
                  <a:srgbClr val="000000"/>
                </a:solidFill>
              </a:rPr>
              <a:t>76.1%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D72668E-9506-4E0D-805A-22DFED5B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957513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6B35"/>
                </a:solidFill>
              </a:defRPr>
            </a:pPr>
            <a:r>
              <a:rPr sz="975" b="0">
                <a:solidFill>
                  <a:srgbClr val="FF6B35"/>
                </a:solidFill>
              </a:rPr>
              <a:t>43.4%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CF4A8E9-D39C-4ADB-8B0A-6627CEEF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2004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150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ECFE5EF-AF0A-47FF-B67A-679A5FA6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219450"/>
            <a:ext cx="25050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E751420-976E-439A-93EF-B8468289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219450"/>
            <a:ext cx="2009627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50859DD-C22D-49DF-88C3-FEC196F7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371850"/>
            <a:ext cx="25050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841CF74-1113-4D07-9C4E-1C5E2FE0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371850"/>
            <a:ext cx="1950827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6D58FFC-38E4-41BF-BB9C-0EFDCADB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1718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00000"/>
                </a:solidFill>
              </a:defRPr>
            </a:pPr>
            <a:r>
              <a:rPr sz="975" b="0">
                <a:solidFill>
                  <a:srgbClr val="000000"/>
                </a:solidFill>
              </a:rPr>
              <a:t>72.2%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D218646-BB37-40D3-8B3D-BF97CC5D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3242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6B35"/>
                </a:solidFill>
              </a:defRPr>
            </a:pPr>
            <a:r>
              <a:rPr sz="975" b="0">
                <a:solidFill>
                  <a:srgbClr val="FF6B35"/>
                </a:solidFill>
              </a:rPr>
              <a:t>62.3%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2CECD83-1C79-4080-B51C-D688692C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567113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200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743712B-26DC-4D9C-BF46-D627010E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586163"/>
            <a:ext cx="25050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E1EFDCC-36A9-4C96-8FBB-46B7ADE0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586163"/>
            <a:ext cx="2009627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AD53366-8E23-4964-9651-449EE233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738563"/>
            <a:ext cx="25050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46B277E-BF1D-4871-932C-F428CF44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738563"/>
            <a:ext cx="1950827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86CF008-47CF-4559-94F9-226FA08B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538538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00000"/>
                </a:solidFill>
              </a:defRPr>
            </a:pPr>
            <a:r>
              <a:rPr sz="975" b="0">
                <a:solidFill>
                  <a:srgbClr val="000000"/>
                </a:solidFill>
              </a:rPr>
              <a:t>72.2%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1036E83-3685-4538-A7A0-10351ED9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690938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6B35"/>
                </a:solidFill>
              </a:defRPr>
            </a:pPr>
            <a:r>
              <a:rPr sz="975" b="0">
                <a:solidFill>
                  <a:srgbClr val="FF6B35"/>
                </a:solidFill>
              </a:rPr>
              <a:t>62.3%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C12BDBF-136B-4772-A06D-43EFEEF7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029075"/>
            <a:ext cx="171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4AAC6BA-5D13-411C-B918-DAF2FFBE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9624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准确率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53F2844-6006-4499-B87B-C86BCFF8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029075"/>
            <a:ext cx="171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DEAE1B0-05E2-46F8-B0A4-C624E8DE3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9624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成本节省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51B8167-B7D3-4D61-9B68-BEAD1E0A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随机对照也显示类似倾向：trainval100 random control 为 75.1% / 43.9% 节省，trainval150/200 为 72.2% / 61.9% 节省。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195471A-32BA-4597-AD3E-5E01BCE5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来源：routing_cost_comparison_testdata_hybrid_half1_trainval*_openai.csv、random_control_trainval*_openai.csv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B0390C9-0710-4C61-AFA9-5DC27D14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660785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07ACBF-4183-4E66-B604-A2D54501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分桶与反思模型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D8C38A-99C6-48BE-8CD0-14D6F8C7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ablation 的信号：样本构成比样本量更关键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11D765-25F0-4595-A305-8BCBC3C5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62BC20-E425-45CB-8B4C-E3155441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0715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C00EEF-581E-419A-AEB0-0B618B0D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669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ablation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DA0F7E-2355-46AD-817C-3976A364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8669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准确率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CE1BFD-36E0-4351-A862-C6DC5443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669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节省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DD67A2-2894-4F0F-99D8-3657F2E2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866900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nano/mini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DD7EC7-2DA0-493E-A46A-D45633E4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18669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含义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1441EE-536D-4BEA-B8D3-651BA7BB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10715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20E7ED-94E3-4D69-BB84-0176A05E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764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balancedish openai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3F874A-EDF1-40AB-AFF4-A7430F76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7647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79.0%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1ABD09-C7CB-4DC4-A858-5B18AB78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7647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24.3%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21D029-23DB-4A29-8168-CA2BCD1E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276475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82/123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F3644D-8B5B-4E02-9EED-51305B92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27647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更平衡，保留了一些成本收益。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6E0009-CA6F-484E-A5B4-52D13E81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10715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754F1F-EACB-4045-B714-5538B171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908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critical + both_wrong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056075-8A90-4963-BFBC-A18A10C6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908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78.0%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924B3F-A321-4B01-8D01-3E794A0B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908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24.4%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20FB5F-3168-4E2B-83FC-76BD3785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790825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85/120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3D3021-8BF1-4C43-B579-745326FA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79082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更关注风险样本，准确率接近但成本更高。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355ACB-050B-4E2A-9DC5-9A58078C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0400"/>
            <a:ext cx="10715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767AB3-06A1-4D93-899A-CEA8BBE1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051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critical + both_correct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EF1606-A7EF-45C8-8F37-F5EF7F89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0517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76.1%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3A8086-DA95-4ADC-BBB8-767BD873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0517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34.7%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C3D84B-F151-4DF2-B719-9F3762CD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305175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122/83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32D9BE-7ADA-433F-8AC5-9C45C071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30517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省钱更多，但准确率损失扩大。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CF584C-F6D5-46CE-BA36-AB5E1B09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10715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23B529-4A1E-4F0E-A740-E6880F97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95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both_correct heavy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92C501-73D6-4371-A5F3-F6E0A3DE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8195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72.2%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B11D9A-1E32-4A9E-B29B-28715B28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195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59.9%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68545F-02C3-4F61-9711-544140CD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819525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185/20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A9DED0-2399-4AD0-A182-FA619246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81952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过多 easy/cheap 信号会推向 nano-heavy。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975B48-AEE5-4C1C-B845-6F329F9A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29100"/>
            <a:ext cx="10715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B2A2B8-3505-4C3E-BEFD-9FF5E730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3387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Qwen 0.8B local reflect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8953C6-75C1-42A9-A3A4-CE8B4C3A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33387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71.2%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D4AC82E-23E0-4F5A-B811-6854178C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3387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74.1%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3A78DE-95E8-43E6-B6BE-D7602E9B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333875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205/0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AB0AF42-1313-4F80-8327-00FE7C6A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33387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塌缩为全 nano，说明反思/路由能力不足。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BE498D-3C3F-442F-9578-2DD5D4DF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43450"/>
            <a:ext cx="10715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B4FF0D6-38ED-45D2-A810-C698560D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482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Qwen 4B local/openai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A254A3B-D65F-49FB-BEBF-F823B0BC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8482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75.6-76.1%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BD8D4A-292A-4F82-9E7D-EB74A354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482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47.4-47.5%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7A93BEA-2917-4145-8777-25F2CDA0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848225"/>
            <a:ext cx="100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约 155/50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D492C53-59F5-4152-A8B2-D931FB54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84822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比 0.8B 稳，但仍偏省钱。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81A561A-81D6-4533-90A3-DAC28E6F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72125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这里最有价值的发现不是某个 ablation 单点赢，而是：critical / mini-only 样本必须被足够代表；否则 objective 很容易学成“默认 nano”。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641F3DB-EBD6-4D99-A267-0C2CAAEB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来源：routing_cost_comparison_testdata_hybrid_half1_ablation50_*.csv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8BBD265-03CE-405B-B6B0-C2A6BB5D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405885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887602-C07C-4F2C-8DF5-A00A9B15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目标函数与输出格式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5D834B-B624-485F-AEEC-B3BE10C0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token 与 risk-averse 版本把结果推到更可用的前沿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9DED2-DFFB-4EB7-B01F-3B161C91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62215B-2DD5-46F4-B793-3E082799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manual risk full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757F55-9BEE-4EAF-9117-3605E936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752600"/>
            <a:ext cx="3009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2BFA03-20E8-4412-91AD-965CDE0C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752600"/>
            <a:ext cx="285940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C2FBC4-36CD-47B2-9563-1E6B18B1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905000"/>
            <a:ext cx="3009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82DA18-F4E3-4004-961A-F96B6A86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905000"/>
            <a:ext cx="1388316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4F7BAD-FAB6-4B23-97CA-1D648B74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7049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00000"/>
                </a:solidFill>
              </a:defRPr>
            </a:pPr>
            <a:r>
              <a:rPr sz="975" b="0">
                <a:solidFill>
                  <a:srgbClr val="000000"/>
                </a:solidFill>
              </a:rPr>
              <a:t>85.5%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31A6A2-4691-425F-9126-71FB948C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85737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6B35"/>
                </a:solidFill>
              </a:defRPr>
            </a:pPr>
            <a:r>
              <a:rPr sz="975" b="0">
                <a:solidFill>
                  <a:srgbClr val="FF6B35"/>
                </a:solidFill>
              </a:rPr>
              <a:t>36.9%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83AC00-3430-4FCF-A3F2-27FEAB6B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00263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hybrid easy openai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2D82DC-5E89-4D15-86D5-C68E36D5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119313"/>
            <a:ext cx="3009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7B2683-7670-436E-8EF8-4D08B1A3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119313"/>
            <a:ext cx="2849372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5C3467-C87C-4AE5-9CF4-AE7FF6E0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271713"/>
            <a:ext cx="3009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09F9AB-4AEF-43FC-BD16-9AD05751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271713"/>
            <a:ext cx="1730693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897E41-53CB-4886-9784-EC7A4528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071688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00000"/>
                </a:solidFill>
              </a:defRPr>
            </a:pPr>
            <a:r>
              <a:rPr sz="975" b="0">
                <a:solidFill>
                  <a:srgbClr val="000000"/>
                </a:solidFill>
              </a:rPr>
              <a:t>85.2%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CD60BC-E840-4F20-B5EE-64E06716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24088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6B35"/>
                </a:solidFill>
              </a:defRPr>
            </a:pPr>
            <a:r>
              <a:rPr sz="975" b="0">
                <a:solidFill>
                  <a:srgbClr val="FF6B35"/>
                </a:solidFill>
              </a:rPr>
              <a:t>46.0%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9A559D-CD5E-4B66-98D9-5C640B8C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669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train100 pareto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8C760A-D2DC-4335-A6A5-5F188C15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486025"/>
            <a:ext cx="3009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9F62E4-7376-486D-AD70-EC9E3194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486025"/>
            <a:ext cx="2829306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53C3EA-BABF-4943-B32E-65E83B3F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638425"/>
            <a:ext cx="3009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B50502-9977-4A4F-8471-8B064469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638425"/>
            <a:ext cx="2155841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162D43-5B29-4843-B5E3-467B4B5D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384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00000"/>
                </a:solidFill>
              </a:defRPr>
            </a:pPr>
            <a:r>
              <a:rPr sz="975" b="0">
                <a:solidFill>
                  <a:srgbClr val="000000"/>
                </a:solidFill>
              </a:rPr>
              <a:t>84.6%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D62C35-210F-4EEA-BC6E-29A34302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908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6B35"/>
                </a:solidFill>
              </a:defRPr>
            </a:pPr>
            <a:r>
              <a:rPr sz="975" b="0">
                <a:solidFill>
                  <a:srgbClr val="FF6B35"/>
                </a:solidFill>
              </a:rPr>
              <a:t>57.3%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0DCF8A-402B-4EA7-91FB-FFEED9E6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33688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balanced100 risk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E39BC5-5D7C-4C5C-9B5E-47D539C2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852738"/>
            <a:ext cx="3009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47649A-5FB4-4A88-80A6-EAEB0895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852738"/>
            <a:ext cx="2815929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CB775C-B54A-4255-9C62-38716BC9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05138"/>
            <a:ext cx="3009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E502A4-2406-4F34-A861-05773CDC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05138"/>
            <a:ext cx="179841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7F0E1B-D61A-4289-8325-FB67EB04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05113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00000"/>
                </a:solidFill>
              </a:defRPr>
            </a:pPr>
            <a:r>
              <a:rPr sz="975" b="0">
                <a:solidFill>
                  <a:srgbClr val="000000"/>
                </a:solidFill>
              </a:rPr>
              <a:t>84.2%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775320-D3A6-4776-A021-4ECDDB03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57513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6B35"/>
                </a:solidFill>
              </a:defRPr>
            </a:pPr>
            <a:r>
              <a:rPr sz="975" b="0">
                <a:solidFill>
                  <a:srgbClr val="FF6B35"/>
                </a:solidFill>
              </a:rPr>
              <a:t>47.8%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3A5532-9F58-4F43-AC9F-06134D5F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04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token target openai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3DC6AA-CEF7-42E1-B199-F17883AA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219450"/>
            <a:ext cx="3009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701C90-8FDA-41B1-AC8C-330EC4AF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219450"/>
            <a:ext cx="2792518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D0DA74-2BD3-44A5-B134-76C727F1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371850"/>
            <a:ext cx="3009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8458AB-8686-4EC6-BDEA-908C5CF2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371850"/>
            <a:ext cx="2697623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045DC6-0161-4762-BA54-39C70CAD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718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00000"/>
                </a:solidFill>
              </a:defRPr>
            </a:pPr>
            <a:r>
              <a:rPr sz="975" b="0">
                <a:solidFill>
                  <a:srgbClr val="000000"/>
                </a:solidFill>
              </a:rPr>
              <a:t>83.5%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8AEEF9-5FB0-46C3-81CB-A2D54F15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324225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6B35"/>
                </a:solidFill>
              </a:defRPr>
            </a:pPr>
            <a:r>
              <a:rPr sz="975" b="0">
                <a:solidFill>
                  <a:srgbClr val="FF6B35"/>
                </a:solidFill>
              </a:rPr>
              <a:t>71.7%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F57BDE-14C8-4DBC-AFA5-196F1802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67113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token target ollama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E7FADB0-8CE2-4A52-A27A-82EDAC4B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586163"/>
            <a:ext cx="3009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A38E700-AD75-4348-B424-1A97FB23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586163"/>
            <a:ext cx="2792518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491F9E0-7D16-48AB-8526-0DC13416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738563"/>
            <a:ext cx="30099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A233F9-4FA6-4333-9661-063ED9E3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738563"/>
            <a:ext cx="241544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1B57817-CC82-409C-ACF0-3879F295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538538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00000"/>
                </a:solidFill>
              </a:defRPr>
            </a:pPr>
            <a:r>
              <a:rPr sz="975" b="0">
                <a:solidFill>
                  <a:srgbClr val="000000"/>
                </a:solidFill>
              </a:rPr>
              <a:t>83.5%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6D68BEC-3DA0-412C-8670-D6CF9FD5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90938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6B35"/>
                </a:solidFill>
              </a:defRPr>
            </a:pPr>
            <a:r>
              <a:rPr sz="975" b="0">
                <a:solidFill>
                  <a:srgbClr val="FF6B35"/>
                </a:solidFill>
              </a:rPr>
              <a:t>64.2%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100FCF7-D630-4254-B6EF-3CF61BD8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029075"/>
            <a:ext cx="171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705EFD2-E7E3-41AA-B966-A015BD0E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9624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准确率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2314340-CAE8-4A55-9E2F-D0971419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29075"/>
            <a:ext cx="171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56F1C98-069E-47CD-8824-38E75498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9624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成本节省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3FB3985-4557-40B4-AEA3-6D28B1185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752600"/>
            <a:ext cx="51911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EB4A585-8E32-4952-8384-7FC893E8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8669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方案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7CEE5B5-D133-430C-9A7F-7D4054A8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8669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准确率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27B9504-DD14-44DD-9C6B-93C1C6D6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86690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节省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F36E57F-826F-4697-8C82-ED4DB1AC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186690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nano/mini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9E6B2CD-0577-44C2-BE5E-7A9D7C66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71700"/>
            <a:ext cx="5191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8B6D88A-805B-437A-89C9-25CC5E68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27647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manual risk full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AC595C9-93B8-4512-BE62-B0C3980D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2764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85.5%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437BF67-B0DD-4D59-90E2-310EFB2A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2764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36.9%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4F8FB97-68E9-474C-9F12-0BC7AD63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276475"/>
            <a:ext cx="90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183/127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DBE47EE-99A1-473F-8B02-6DB4D330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705100"/>
            <a:ext cx="5191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6EFDF24-8D01-4DEC-B944-C221F0C3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80987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hybrid easy openai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AAE023A-BCD1-48C8-9700-E797BD2F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098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85.2%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EAAA6A3-591F-4147-82CF-789000E1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098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46.0%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7B08B8F-5147-4817-AFC9-EB9E1FA9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809875"/>
            <a:ext cx="90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222/88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04CD7AA-14AA-4945-8C2D-8E44F8C2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238500"/>
            <a:ext cx="5191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989EB77-77A9-4206-A130-85F88F3A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34327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token target openai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F53FED2-9906-4217-8DED-E5D1E118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3432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83.5%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55299F3-9447-463F-B6EF-F011FBB6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3432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71.7%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CA5361B-8A0A-4390-A6D6-63F80F09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343275"/>
            <a:ext cx="90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305/5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8A0141F-E150-4EA3-8DA4-60A02BC3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771900"/>
            <a:ext cx="5191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B87F4F9-AE87-49EA-9A6D-541618EA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87667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all-mini baseline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6694525-3E21-4CDC-9609-01870221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8766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86.5%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3F95E57-B523-48A4-BDFB-54C4478B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876675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0%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54D1223-1BF5-4457-A49D-CA8D843E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876675"/>
            <a:ext cx="904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0/310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C79A8BB-0964-49A5-8D7F-C6570423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533900"/>
            <a:ext cx="476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2222"/>
                </a:solidFill>
              </a:defRPr>
            </a:pPr>
            <a:r>
              <a:rPr sz="1575" b="1">
                <a:solidFill>
                  <a:srgbClr val="222222"/>
                </a:solidFill>
              </a:rPr>
              <a:t>可选结论：如果优先保准，manual risk full 最好；如果优先降本，token target openai 几乎达到 oracle 成本，同时只比 all-mini 低 2.9pp。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BC85451-B92A-4379-BA7D-48570DB1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来源：routing_cost_comparison_testdata_token_*.csv、hybrid_easy_py_qwen35_latest_token_*.csv、balanced100_structured_trace_*.csv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38DD501-9B33-412F-BE53-BFE3722C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01710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3E3052-ED30-4AE2-BE9D-DDC9D7698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替代优化路线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FC0887-1B09-40B9-947A-0AB66F9F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soft prompt 是值得继续的支线，但还需要校准阈值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360D24-DBEA-4714-929F-4018C839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0E019F-A134-49AD-B612-D9C034BB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24765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44C3F3-3102-4849-9E91-FC3D6681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24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soft prompt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D88E13-A13F-457A-B9C8-18DF06AF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6B35"/>
                </a:solidFill>
              </a:defRPr>
            </a:pPr>
            <a:r>
              <a:rPr sz="3225" b="1">
                <a:solidFill>
                  <a:srgbClr val="FF6B35"/>
                </a:solidFill>
              </a:rPr>
              <a:t>81.0%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C264F8-207C-488E-B210-B3D84EA8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62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205 题 test accuracy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34F7A9-ADC9-4C52-9F08-94F59D49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52600"/>
            <a:ext cx="24765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014A75-B8ED-4A75-B09B-001CC041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24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成本节省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EAA8E8-AE44-4D27-BF06-7290825B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098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6B35"/>
                </a:solidFill>
              </a:defRPr>
            </a:pPr>
            <a:r>
              <a:rPr sz="3225" b="1">
                <a:solidFill>
                  <a:srgbClr val="FF6B35"/>
                </a:solidFill>
              </a:rPr>
              <a:t>40.6%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9E280D-1D09-4519-B60C-4B1DF8A7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62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95 nano / 110 mini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81D1C4-07B2-48FD-87A1-24880055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752600"/>
            <a:ext cx="24765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175925-B4A9-409F-BB5F-F1023A77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24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critical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BDD38E-F643-4A45-BCD2-B594BE20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098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6 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40E8E5-662F-4363-A6E0-D3998261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62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nano 误路由且 mini 会对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2FF4D5-34F4-433C-B9A2-D12F75B6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752600"/>
            <a:ext cx="24765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7A1A48-9BFD-4028-99DD-E1178F0A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924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正确升级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B65D98-4745-42A8-9434-E35ED11F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098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00000"/>
                </a:solidFill>
              </a:defRPr>
            </a:pPr>
            <a:r>
              <a:rPr sz="3225" b="1">
                <a:solidFill>
                  <a:srgbClr val="000000"/>
                </a:solidFill>
              </a:rPr>
              <a:t>20 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5AB9D8-E120-42DB-8E62-DCDF2867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62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mini 选对且 nano 会错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230ADD-E1C6-44A9-8415-1EBCF5D1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D1A0CA-A9FD-4B7C-8BCE-E5E17D21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338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路线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B5A20B-0294-45BB-9AB0-541D3B0B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733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代表结果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38453C-31A9-4D51-ABE3-7B8535EB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33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优点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C05F29-56A6-4822-B20F-F2F830AF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338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问题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5CBC68-9213-4094-910B-148FC36A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386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915C9A-80C9-48EF-ADDD-F90BB015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4337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OpenEvolve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930E1D-35BF-44BB-BDB2-EC455800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14337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80.5% / 2.5% 节省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98C6BD-5A2C-4BF4-8AE3-3BB7D145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433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能保准确率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302B00-2A7F-4EBF-8BC5-E20F5584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4337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太保守，成本收益很小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904014-356A-4D99-A64C-DDF8BCDE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946872-65E4-4048-8AF7-73F89630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3392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AdaEvolve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A49507-C4FD-4AA7-8AB7-09CE5AD6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73392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74.6% / 45.3% 节省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C9652A-DB8F-4A52-9EDC-B89415F2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339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能探索更省钱策略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E73A0F-C1CE-4A56-91F9-2FE44B33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73392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准确率损失偏大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0B219B-E1E5-4A71-9554-8506A553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33CC73-02F9-4B2C-B086-7B5D018D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24475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Soft prompt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BE80A1-22B7-4B2D-8140-AD054B1F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32447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81.0% / 40.6% 节省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55A2D2-A00F-4305-8606-173C1C47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3244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明显优于早期 GEPA 的成本收益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161A142-5654-4DFB-9731-48051318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32447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仍有 6 个 critical misroute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1711108-07EC-499F-BA70-A7A5AC36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下一步不该只加 epoch，而应把阈值、class weight 和 critical penalty 一起扫；soft prompt 的价值在于可连续调风险，不只输出一段 prompt。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47F097-873B-4CB0-A5D5-A6AE382A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来源：softprompt_router_balanced50_risk_best_expected_utility_test205.json、OpenEvolve/AdaEvolve testdata CSV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7115939-C29E-4F60-9E0D-7A356BE1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615006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EB8A6F-8484-4CE9-9FC0-1D947424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建议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671450-C317-45DE-BE9A-C9F8F9C6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下一轮实验应围绕风险姿态，而不是再堆更多变体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DA8257-3046-4CAE-96EF-9F5E9866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B94068-7D6D-4FF8-A8F7-0930E0B0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104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81B423-1871-4A52-AD60-5DBA55A7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669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选择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28E347-4EE2-4A34-8BBA-B4A35B9F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669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适用场景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AF1AEF-6ACE-4D85-8BBB-B461D9A6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669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当前最佳数据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ABE10D-D669-4804-9FAE-E27759D4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669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下一步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B4A0E5-7D9B-4836-9521-EFCE97AD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D8FF53-1EF5-4025-A0DE-DC8E64E1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7647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保准优先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867C3A-B303-4D48-B5BC-B36F9E68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7647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希望接近 all-mini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2CB6B2-11CF-4E20-9FE2-75A9FE7E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76475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85.5%，36.9% 节省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14D43C-A75F-4748-BB6A-CD553D82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76475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以 manual risk full 为主线，降低 critical。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E3E5DF-D868-48CA-91DD-C2CE3AE5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38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4AD1DF-F675-411E-B8C1-24D69F38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4322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平衡优先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EDDC15-AAC9-4851-B3A5-4D1D443D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4322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可接受约 1-2pp 损失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C394BB-C8CF-42AB-B8B3-253FF68F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43225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85.2%，46.0% 节省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A09B30-DD5C-434D-84D0-2A78BF5A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43225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继续 hybrid easy + openai reflect。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483C43-C49A-41C4-8F65-F56F5296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052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F1B7D3-B259-4457-8921-49559579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0997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降本优先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934CAC-F348-4D0F-86DE-2082ED56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60997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愿意用 3pp 换 70%+ 节省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600D62-A3EB-4F89-98AA-C7511960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09975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83.5%，71.7% 节省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0C23FF-F34D-4D05-A97C-694D5A44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09975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验证 token target 是否泛化。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F7A41A-54A1-4FE8-99CB-C4CBB35CB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9C82C0-DEA6-4BD1-B788-90C50CBB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7672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可训练路由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8AE984-D4F6-48BE-9335-C2E3EF14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276725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想要可调阈值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303ACC-45C0-4A2B-BBB9-75116416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76725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81.0%，40.6% 节省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CD24E5-E435-4373-BB99-BE91B1C9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76725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soft prompt 做 threshold/class-weight sweep。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7AC2D8-EC22-433D-B4A7-FD13A4CF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15E97C-63CE-42D4-8979-8121C3D9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02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统一评估集：后续所有候选都固定到同一 310 或 205 题 heldout，避免口径漂移。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784A67-E800-4424-9CFE-DDF3698C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007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D82968-57AC-4A11-9A4B-9C36DA14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00700"/>
            <a:ext cx="1002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主指标改为三元组：准确率损失、成本节省、critical misroute 数。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89198A-99D6-411C-981F-218E6A7D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EC20F1-4C30-4699-8E03-9A5A43E8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81700"/>
            <a:ext cx="1002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先定产品风险阈值，再选择 router；这比继续追单点最高 accuracy 更有用。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82EE57-F273-4597-971D-17AF174D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3412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汇总依据：本工作区已有 CSV/JSON 结果；未引入外部数据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49A5F5-DC5C-479B-9B32-AB46A0159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055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685297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2026-07-08T21:16:25.5240000Z</dcterms:created>
  <dcterms:modified xsi:type="dcterms:W3CDTF">2026-07-08T21:16:25.5240000Z</dcterms:modified>
</coreProperties>
</file>