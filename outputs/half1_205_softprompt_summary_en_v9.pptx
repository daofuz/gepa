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fcda1091564a51" /><Relationship Type="http://schemas.openxmlformats.org/officeDocument/2006/relationships/extended-properties" Target="/docProps/app.xml" Id="R9244e22df8d2488e" /><Relationship Type="http://schemas.openxmlformats.org/officeDocument/2006/relationships/officeDocument" Target="/ppt/presentation.xml" Id="Rbfd1e2f4d5094b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708f94bfb84a35"/>
  </p:sldMasterIdLst>
  <p:notesMasterIdLst>
    <p:notesMasterId xmlns:r="http://schemas.openxmlformats.org/officeDocument/2006/relationships" r:id="R4a0964150c4346cc"/>
  </p:notesMasterIdLst>
  <p:sldIdLst>
    <p:sldId xmlns:r="http://schemas.openxmlformats.org/officeDocument/2006/relationships" id="256" r:id="Rd0e64c53a0854b6b"/>
    <p:sldId xmlns:r="http://schemas.openxmlformats.org/officeDocument/2006/relationships" id="257" r:id="Rfedcc6cf91044780"/>
    <p:sldId xmlns:r="http://schemas.openxmlformats.org/officeDocument/2006/relationships" id="258" r:id="R73107d80db46449d"/>
    <p:sldId xmlns:r="http://schemas.openxmlformats.org/officeDocument/2006/relationships" id="259" r:id="R9c862b80105a43d4"/>
    <p:sldId xmlns:r="http://schemas.openxmlformats.org/officeDocument/2006/relationships" id="260" r:id="R8fa609b1faee4d46"/>
    <p:sldId xmlns:r="http://schemas.openxmlformats.org/officeDocument/2006/relationships" id="261" r:id="Rc7739a106a3b4979"/>
    <p:sldId xmlns:r="http://schemas.openxmlformats.org/officeDocument/2006/relationships" id="262" r:id="R872585b1d2984e4e"/>
    <p:sldId xmlns:r="http://schemas.openxmlformats.org/officeDocument/2006/relationships" id="263" r:id="Rf26bf65beaa54e96"/>
    <p:sldId xmlns:r="http://schemas.openxmlformats.org/officeDocument/2006/relationships" id="264" r:id="R3008c0a5adc644d8"/>
    <p:sldId xmlns:r="http://schemas.openxmlformats.org/officeDocument/2006/relationships" id="265" r:id="Rf93607f1e38e4f3b"/>
    <p:sldId xmlns:r="http://schemas.openxmlformats.org/officeDocument/2006/relationships" id="266" r:id="Rd10c390b824b4e76"/>
    <p:sldId xmlns:r="http://schemas.openxmlformats.org/officeDocument/2006/relationships" id="267" r:id="R35e5bd7983194b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52530e266740da" /><Relationship Type="http://schemas.openxmlformats.org/officeDocument/2006/relationships/slideMaster" Target="/ppt/slideMasters/slideMaster1.xml" Id="Rc1708f94bfb84a35" /><Relationship Type="http://schemas.openxmlformats.org/officeDocument/2006/relationships/notesMaster" Target="/ppt/notesMasters/notesMaster1.xml" Id="R4a0964150c4346cc" /><Relationship Type="http://schemas.openxmlformats.org/officeDocument/2006/relationships/presProps" Target="/ppt/presProps.xml" Id="R39de6971bfb64495" /><Relationship Type="http://schemas.openxmlformats.org/officeDocument/2006/relationships/tableStyles" Target="/ppt/tableStyles.xml" Id="R23daceecc9e443b7" /><Relationship Type="http://schemas.openxmlformats.org/officeDocument/2006/relationships/slide" Target="/ppt/slides/slide1.xml" Id="Rd0e64c53a0854b6b" /><Relationship Type="http://schemas.openxmlformats.org/officeDocument/2006/relationships/slide" Target="/ppt/slides/slide2.xml" Id="Rfedcc6cf91044780" /><Relationship Type="http://schemas.openxmlformats.org/officeDocument/2006/relationships/slide" Target="/ppt/slides/slide3.xml" Id="R73107d80db46449d" /><Relationship Type="http://schemas.openxmlformats.org/officeDocument/2006/relationships/slide" Target="/ppt/slides/slide4.xml" Id="R9c862b80105a43d4" /><Relationship Type="http://schemas.openxmlformats.org/officeDocument/2006/relationships/slide" Target="/ppt/slides/slide5.xml" Id="R8fa609b1faee4d46" /><Relationship Type="http://schemas.openxmlformats.org/officeDocument/2006/relationships/slide" Target="/ppt/slides/slide6.xml" Id="Rc7739a106a3b4979" /><Relationship Type="http://schemas.openxmlformats.org/officeDocument/2006/relationships/slide" Target="/ppt/slides/slide7.xml" Id="R872585b1d2984e4e" /><Relationship Type="http://schemas.openxmlformats.org/officeDocument/2006/relationships/slide" Target="/ppt/slides/slide8.xml" Id="Rf26bf65beaa54e96" /><Relationship Type="http://schemas.openxmlformats.org/officeDocument/2006/relationships/slide" Target="/ppt/slides/slide9.xml" Id="R3008c0a5adc644d8" /><Relationship Type="http://schemas.openxmlformats.org/officeDocument/2006/relationships/slide" Target="/ppt/slides/slide10.xml" Id="Rf93607f1e38e4f3b" /><Relationship Type="http://schemas.openxmlformats.org/officeDocument/2006/relationships/slide" Target="/ppt/slides/slide11.xml" Id="Rd10c390b824b4e76" /><Relationship Type="http://schemas.openxmlformats.org/officeDocument/2006/relationships/slide" Target="/ppt/slides/slide12.xml" Id="R35e5bd7983194b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a2a79225e04c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f420b69fc94ad4" /><Relationship Type="http://schemas.openxmlformats.org/officeDocument/2006/relationships/notesMaster" Target="/ppt/notesMasters/notesMaster1.xml" Id="Rc18b82bf0d294b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eb29d2903c4313" /><Relationship Type="http://schemas.openxmlformats.org/officeDocument/2006/relationships/notesMaster" Target="/ppt/notesMasters/notesMaster1.xml" Id="R1e4991b252084d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693fd8eaca40a6" /><Relationship Type="http://schemas.openxmlformats.org/officeDocument/2006/relationships/notesMaster" Target="/ppt/notesMasters/notesMaster1.xml" Id="R5d526ad8279846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bb4031979c4876" /><Relationship Type="http://schemas.openxmlformats.org/officeDocument/2006/relationships/notesMaster" Target="/ppt/notesMasters/notesMaster1.xml" Id="Rd11d4006de9145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038ef8015b4d9b" /><Relationship Type="http://schemas.openxmlformats.org/officeDocument/2006/relationships/notesMaster" Target="/ppt/notesMasters/notesMaster1.xml" Id="R9e6fdcb97f904e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a40e17a7e74616" /><Relationship Type="http://schemas.openxmlformats.org/officeDocument/2006/relationships/notesMaster" Target="/ppt/notesMasters/notesMaster1.xml" Id="Raeb210d31bdb47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3c155baae74459" /><Relationship Type="http://schemas.openxmlformats.org/officeDocument/2006/relationships/notesMaster" Target="/ppt/notesMasters/notesMaster1.xml" Id="R7c9c8d9fa24249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2db0c9f1de421f" /><Relationship Type="http://schemas.openxmlformats.org/officeDocument/2006/relationships/notesMaster" Target="/ppt/notesMasters/notesMaster1.xml" Id="Re9ab8b682f6145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9d178876c6468e" /><Relationship Type="http://schemas.openxmlformats.org/officeDocument/2006/relationships/notesMaster" Target="/ppt/notesMasters/notesMaster1.xml" Id="Raa9006df4eef47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8195af831e4139" /><Relationship Type="http://schemas.openxmlformats.org/officeDocument/2006/relationships/notesMaster" Target="/ppt/notesMasters/notesMaster1.xml" Id="R7730b2d2fe3f45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824d56d3864820" /><Relationship Type="http://schemas.openxmlformats.org/officeDocument/2006/relationships/notesMaster" Target="/ppt/notesMasters/notesMaster1.xml" Id="R828afbfc66d84b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5842917c804918" /><Relationship Type="http://schemas.openxmlformats.org/officeDocument/2006/relationships/notesMaster" Target="/ppt/notesMasters/notesMaster1.xml" Id="Rf4d42e6d629342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5c9437a1a41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bce8538f264ada" /><Relationship Type="http://schemas.openxmlformats.org/officeDocument/2006/relationships/slideLayout" Target="/ppt/slideLayouts/slideLayout1.xml" Id="Re0a159b5bbc940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a159b5bbc940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50e1d53784217" /><Relationship Type="http://schemas.openxmlformats.org/officeDocument/2006/relationships/notesSlide" Target="/ppt/notesSlides/notesSlide1.xml" Id="Rd0d0d68e1cd449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5fe4788214649" /><Relationship Type="http://schemas.openxmlformats.org/officeDocument/2006/relationships/notesSlide" Target="/ppt/notesSlides/notesSlide2.xml" Id="Re69917a5a9134e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e5e6b41f64269" /><Relationship Type="http://schemas.openxmlformats.org/officeDocument/2006/relationships/notesSlide" Target="/ppt/notesSlides/notesSlide3.xml" Id="Ra101a4b0458b47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47d65ea974813" /><Relationship Type="http://schemas.openxmlformats.org/officeDocument/2006/relationships/notesSlide" Target="/ppt/notesSlides/notesSlide4.xml" Id="R2a69b9e1740c47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5da898e964d6c" /><Relationship Type="http://schemas.openxmlformats.org/officeDocument/2006/relationships/notesSlide" Target="/ppt/notesSlides/notesSlide5.xml" Id="R50359ce1493f46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b6ac7e8c446a0" /><Relationship Type="http://schemas.openxmlformats.org/officeDocument/2006/relationships/notesSlide" Target="/ppt/notesSlides/notesSlide6.xml" Id="R79e2ca7c671e4e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351622c4f4407" /><Relationship Type="http://schemas.openxmlformats.org/officeDocument/2006/relationships/notesSlide" Target="/ppt/notesSlides/notesSlide7.xml" Id="Rfa6a0fce3ef345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ea2fa04364662" /><Relationship Type="http://schemas.openxmlformats.org/officeDocument/2006/relationships/notesSlide" Target="/ppt/notesSlides/notesSlide8.xml" Id="R402f358cfaab49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c2f9627f44c1d" /><Relationship Type="http://schemas.openxmlformats.org/officeDocument/2006/relationships/notesSlide" Target="/ppt/notesSlides/notesSlide9.xml" Id="R6a565df1f52944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f7dc48ca0499c" /><Relationship Type="http://schemas.openxmlformats.org/officeDocument/2006/relationships/notesSlide" Target="/ppt/notesSlides/notesSlide10.xml" Id="R9e7937cb313645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7464a5f2e4e56" /><Relationship Type="http://schemas.openxmlformats.org/officeDocument/2006/relationships/notesSlide" Target="/ppt/notesSlides/notesSlide11.xml" Id="Rc8d7a55f883042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e2706e9c84cd4" /><Relationship Type="http://schemas.openxmlformats.org/officeDocument/2006/relationships/notesSlide" Target="/ppt/notesSlides/notesSlide12.xml" Id="R1e3c876d286c4b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1FD7B-D6F3-4867-B1AE-40FFBD7A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22222"/>
                </a:solidFill>
              </a:defRPr>
            </a:pPr>
            <a:r>
              <a:rPr sz="4200" b="1">
                <a:solidFill>
                  <a:srgbClr val="222222"/>
                </a:solidFill>
              </a:rPr>
              <a:t>First-half 205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A03DE-4934-44EC-A38B-65405FA0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Model routing on computer-science multiple-choice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099A5-7CC6-45E6-994B-8120B9B9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693CB-9276-40D1-87A7-26E7393B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F2660-B47C-49A0-8F51-492369B5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9A336-CCEC-40CE-97CD-EAE937A2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A50E5-781F-4151-8E44-D7B2C88C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select one model per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BCDE2-8DB8-47D2-89BB-D690743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279C5-BF30-483D-BF08-4669AF5F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1F0E1-3459-400B-848A-73C5513E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410 MCQs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1CEAA-B226-4F25-8D8E-B0F17936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computer-science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2E1D0-2F60-4B5C-AF21-F6436C30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7E90B-BC36-4497-BC9B-232F49C8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873B8-4AEA-4096-8830-CB18D336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stronger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3C341-60B2-4391-83F8-7F4DD2E3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higher accuracy, higher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20B23-C021-4A26-885E-CE9D56EA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1049F-ED53-403F-BD10-3C60C4D0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nano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8836F-DC57-419B-9A9E-0A2973B6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cheaper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D661D-99CA-45EE-9A24-4C4B5E88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lower cost, lower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EF44F-74EC-4BD9-A36F-2EADE840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Goal: preserve answer accuracy while reducing cost. Train and validate on the first 205 questions, then evaluate every router on the fixed second-half 205-question test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6DE2E-5DAD-4BD0-B79E-053297A8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routing_split_half1_*.json, gepa_router_prompt_result_hybrid_half1_*.json, routing_cost_comparison_testdata_hybrid_half1_*.csv, softprompt_router_*.json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81A0B-0F00-423D-984D-0FEF0EDC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64617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6ECB94-9950-4174-90DE-0670561A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205/205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2DD33-8DDE-4E99-BE9F-66AB6791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fixed test set offers substantial cost savings through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E45CB-298F-4234-8EEF-38447B7F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DD375-E967-47BB-B25B-88A0AADD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0FD94-29D0-4E20-98B4-12A4178E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B946D-C7F8-447A-8E35-B50FBD50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D7224-D955-4D22-864E-CDB3D78C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12.7%; must escalate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A3FFB-C22D-48BB-BCD7-78EDC452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07432-8B67-4C0A-9DE2-E1E002C2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654C9-0404-4581-A085-A388CD34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17A6B-FFD9-4282-B24F-BBF76D34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67.8%; can be cheap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411DA-9AF4-497C-B9E5-28FFF38C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A116C-BF09-40A4-9C12-7F26A513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3C032-A769-4561-931B-40A3E0DF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6699E-A7BF-4C3A-A0AF-B0EBA065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16.1%; no route fixes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DF48A-85C3-4EE3-B62D-F61DA4AE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1AE85-F3D3-45DE-9FAD-86216582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75187-1A23-4D87-BF7B-02307321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25575-78AE-4BAE-88FA-C6D01A62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179 nano / 26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3C625-E560-4920-AB97-8E9D1B91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2A810-0B12-4289-A192-5DABB880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E5046-3A3F-4362-8FC5-8C5B99AB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8908D-571C-4415-80A1-2DBE217E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Cost / 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6E33D-1175-442F-8D95-46A4D712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609AD-0F8A-44EC-97AD-EF523143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FEC3ED-41F7-42A8-8403-6333A0F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8F9CF3-663C-4714-86BB-DE8B573C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3BE5A-F82A-4AFD-81EF-881918F3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53575-7621-4A40-B79D-1ABA5E5F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64E016-DEB2-4B4C-83A5-2E4BC44C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$1.124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22259B-A87D-4F44-AC7B-15DE3925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74FDB4-5921-4BEC-BDE9-E4865427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C3F08F-D86F-4873-9DDA-F03230AD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Accuracy baseline.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6099CD-D922-4CDE-A1C0-E876ECE3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04C618-992E-4BFF-80B1-F5AAD6B1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all-nano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E352F3-4E08-4CEF-994B-41AA152B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BE4FBD-A2C9-4A77-8491-3E75CB9A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$0.291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E64617-21E5-4DF7-B5BD-79F44785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864EC4-606F-43F6-B715-8D195CC8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573779-EEF2-475E-8142-2CB84AB0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Cheap, but loses 9.3 points.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2CBEA4-22B2-4693-873B-6093DC9A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E61AA4-A566-4413-8ACF-6DD59F07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oracle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4C9C94-B182-4B07-93A0-75AD84D5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FB0372-277D-41F8-ABBC-59A588D4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$0.402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1D6C5B-3C78-45CC-8FA2-65D7D20B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315DD5-3744-49CE-9CC6-C4A693AE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179/26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C46C6D-4D2C-4297-95A5-4D9A609B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Large theoretical room because most items are both-correct.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1CA74C-E595-4ADB-9462-B791BCD2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outcomes: mini-only 26, nano-only 7, both-correct 139, both-wrong 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13DB44-D6B1-4421-BB7D-60C4007F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4524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6C23B4-46AF-4E81-AA4B-8EFC4796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Why active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B7DF5-5F79-48B6-9761-40CF7A55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Critical cases carry the routing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7D8C1-3CF7-4B2E-9C7D-28CE732C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0485C-AEF2-4AE0-BE02-333F7C9E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 critical case is one where the models disagree. Agreement cases reveal little about which route to choose; disagreement cases expose the decision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EAFBC-0F28-4DA1-B678-A8339962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D2F46-A406-4125-93C0-B2D4E3B8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MINI-ONLY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082E1-CB6D-4CC5-80DC-7A35D571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mini correct / nano wrong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04191-3223-4576-BA5A-7A7B9E4C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Escalation is necessary to preserve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E3026-61A3-44EF-8699-4FA39327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20202-FC6F-4754-BDC9-EAA03435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0ED"/>
                </a:solidFill>
              </a:defRPr>
            </a:pPr>
            <a:r>
              <a:rPr sz="1200" b="1">
                <a:solidFill>
                  <a:srgbClr val="2F80ED"/>
                </a:solidFill>
              </a:rPr>
              <a:t>NANO-ONLY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121E4-F765-4E16-B792-516A2F44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nano correct / mini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149F3-2196-412A-9A2B-1564F00A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cheaper route is also the better route.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25D12-3A26-4A43-B01E-95575189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42FB0-4867-4475-B7A7-DA05CABA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Size-50 sampling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7BDC5-11AB-437D-996B-448719B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82B34-6902-4CF0-94DD-AD58332B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E16F6-8CAA-4BB5-AC2C-4231EEA3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290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critical share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D2D39-9B01-4004-B34E-DCB2EE79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290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both-correct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033E4F-423F-4AB2-AF07-3E1BA2EF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D1CF0-90A2-4B84-BDD5-B238E985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290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3867F-A767-46D3-A475-6A7BFAB0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907B2-565E-48CE-AB90-3DF677E1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actively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322B4-7F69-4053-8AF3-61A2EA3F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235A4-E34D-4EE2-B60C-8C9A07D2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8A678D-B6A1-4D90-B657-1BABEBE1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B80A83-117F-407F-BC6E-41BBD47D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40C6A-8DA0-42CE-BD58-D2A723E0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CCCB38-A8E2-40D1-B642-B9CE2F31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9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46FC44-7914-442C-8FCB-1AE91F85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14F249-A8F0-4C4A-A4E2-9F541419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39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random 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43488-9D45-461D-B61E-043BAAC0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D0304C-0797-433E-959C-3375947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E1AE2-FD67-45B5-B81A-A1B157EE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CF880D-9C84-49AF-9F66-43D56255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FFB689-84F2-4489-9846-A403897A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73.7%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2838BC-A24B-4A77-B8D1-7006501C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49.5%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E9E422-AA7F-4BC4-9819-AA7B20B1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Random sampling mostly selected easy both-correct cases, pushing the router toward nano and losing 6.3 accuracy points. We therefore oversampled critical cases deliberately.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05875-7896-447A-9898-3FA902B9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Critical = mini-only + nano-only; sources: half1 trainval50 with-critical split and random-control trainval50 split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EF262E-7FDC-4E0B-BFEC-57BE7120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352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D89003-1C20-4F76-8458-A662FA62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Prompt-router size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1A9D8-B14B-44E0-92DF-DF247A96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Larger samples were not automatically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E6D19-C688-477E-8627-7CF28AA3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83215-8D3B-4D37-A62A-D746CFCA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619AE-4402-4C33-BA4B-02DE91CE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EB1B4-7E5F-4625-9BDA-8EB7661E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BF8FF-716E-47B1-AA67-B1B13CB9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5C382-025F-42CC-A8BB-A2A76E6E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F3E41-BF23-4896-85CE-2E4BFADB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573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42CC2-45D2-4542-8CC5-BA9F7227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Readout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C6C5E-1D02-42DC-89D9-6F68B1B3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0A324-5562-4964-B7C7-AD5197AC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D9FA3-9ECE-48D5-BF81-A2485600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76/0/24/0%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6185E-CF5A-4590-BC7F-740F5718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CA104-ED11-428A-9CFE-FD469689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A2DCF-7582-4295-99C7-E047BD9D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0A839-D477-4639-BC55-4C29C108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8FA9B-DF2A-4D6E-82AC-A683D440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1A015-EE6A-46EB-83F3-2CA4D0A3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47552-1A58-44BF-969F-39D57E94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38/2/40/20%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D614A-5E10-476C-BC99-08F23822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4B153-532C-4E2E-B370-4FAA63EA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E299BD-2947-4F7A-A466-E45F0292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77F7C-F92C-47D4-865D-18DDE049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Best accuracy-preserving point: 80.0%, but only 12.6% savings.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803D2-12C2-4D45-923D-BF27D3C5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A403F-E778-4A69-8A4F-D784A660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765F8-8CF5-4DDB-8647-54DE485E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25/1/57/16%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A23F58-9113-4DA1-B053-E825FC5D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CDBEC6-19CB-48A5-8265-B317852A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770ACB-2DA2-4E8F-8278-E91C565C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B53D6-EC9D-442C-9704-770EC4F3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09F8D-75AB-4BB4-B211-F95D2C6F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536209-FF5B-4F4E-8D9C-0FC8DE6A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2CF152-721C-4877-A712-9D71D300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19/2/62/17%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AD560E-B4A0-42CC-8313-39D9B3CF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9030BE-85E5-42E3-802A-185C231F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5997A5-A493-4C4B-831E-FC40AAB4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D97CD2-5F50-477F-A6B5-9359E6EB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BB93A2-0817-4D8D-87E2-2CCC05CA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D872DA-451D-49CB-8180-58614084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2F2EA6-F071-46B9-A0BE-E7050DE1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15/2/64/18%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315F95-0173-4C65-BDE8-F18E311C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CA58C4-0B5C-469C-BA89-4D980E48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85A226-8554-4190-BEE4-E685D849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191/14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1BED49-E25C-4887-AE76-44D0859D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BC2615-43F2-48DA-B725-2A94BA81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180B08-5895-45CF-9A01-84477D6C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942279-7F00-493D-95B8-DF081737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13/4/67/16%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79307B-878F-46AC-B0FA-268EEE55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861614-CE19-4D37-A880-F54B4E8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F39BA5-1B71-4D0C-AC6C-8D796E3E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BC80BB-414E-4281-82EC-E20EC5E7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88D187-B529-4290-A7DE-0DC64B5B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2ADB1D-1E8A-4CB7-8AAF-5F43B6C2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027DE3-417C-4C28-BC49-FA0AC9B1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10/5/71/15%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FE1578-B518-474A-9F16-8DADC5B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4DCD10-253D-4410-8F38-A18FA197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A5F0D1-EDD2-490F-A31D-BF3FE60D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994D2D-E009-4EC5-8EE6-CA3A6DBE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508652-6B25-4560-A8D8-AE081F0A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Size 50 best preserved accuracy. At larger sizes, the falling critical share and rising both-correct share pushed the router toward nano-heavy policies.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AC227A-36BE-42C9-84FC-5880688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set: second-half 205; source: routing_cost_comparison_testdata_hybrid_half1_trainval*_openai.csv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A4C2F9-DF1A-4EE8-9DF3-01D68D3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4135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EECDEE-0D65-4AD0-A0C9-45EAF030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Random-control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71E09-1D1A-453F-A7A1-6C8605AB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Random controls showed that natural sampling pushed the router toward 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01ADE-1B5F-475D-8F9B-F18D5AC8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02CDC-AB02-4920-83AE-F2A06F85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6EE58-A922-4869-957E-175F9EF5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D6C15-3F74-449B-9E77-65E50B54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55F1B-59BC-4703-86A7-3DE5B33A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C8D03-090C-4C00-8D04-EAD810F5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88A70-4633-45D4-AE80-329C2C7D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214E2-CD33-43B9-9BBC-B1AB125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77437-5E61-47D0-A08F-75F20864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9C7A6-4754-4CDA-8756-6A269290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46E34-A6AF-4100-8E0A-5884B8CE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60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56810-CD37-4FCF-9F8B-C34BD575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54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3F100-D6CE-47FA-B18D-E7049594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21336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F71D5-B68F-4D26-8E80-4F46D104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33600"/>
            <a:ext cx="37357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D7630-54BE-41BA-AD56-8ACE49AF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2181225"/>
            <a:ext cx="36785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79C94-8A83-4C9D-9046-4CDF7296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52F05-1EA6-4DA4-A758-AE7CCB07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4A31A-CEB2-480F-A009-7F19E719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6/2/37/5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359A3-842C-4BCE-BEF4-9682617A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73.7%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807A6-E52F-4839-9823-1A7866F9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62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49.5%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DBDB6-22EE-4E13-8514-784FE21D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7CBEC-9781-4A81-9CBB-BD6CCD02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880D2-A1AF-4285-979C-71463A9C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289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E441A6-172F-4CA2-B4BC-2B71A0B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813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6219F0-B2E4-4A12-945B-8911066C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781300"/>
            <a:ext cx="36347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09862-36E4-4A1F-AA17-067464D2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2828925"/>
            <a:ext cx="35775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B5CFB1-C5E6-415E-81B4-8ED75D99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81300"/>
            <a:ext cx="706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1C029D-A19A-417E-BD47-FC5471A1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2828925"/>
            <a:ext cx="649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BA91C6-2493-4E59-B252-437C5BDD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10/4/72/14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B08365-9B1B-44C9-B7B3-D8CAD8BA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75.1%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433CA4-1BAD-4766-A876-E5D088EC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E7D43B-4993-44E8-99B1-1B8FD873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9DCC6-F175-4C2C-8E25-7CFF24AB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711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438A7C-209F-4603-A1A3-120231BF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76625"/>
            <a:ext cx="414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7CB437-68F3-49A8-B44C-E5023A4A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4290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1C5F6A-77F0-4BE0-94AB-88E485DF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3429000"/>
            <a:ext cx="3567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AAE113-4FFC-4D0A-B5AE-7E6CDC3E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76625"/>
            <a:ext cx="35102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9C26CD-2485-4F77-AC62-BFE506D8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3429000"/>
            <a:ext cx="8077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4BBBB8-C8BD-4FEC-A5CD-2F4FDC2D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3476625"/>
            <a:ext cx="7505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2A2582-7DBA-47D4-B3B3-DB12304F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14/6/106/24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369D3A-A35D-423D-AE70-317BA1C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808803-71DD-4D08-A9A6-A040574F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57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A49E02-E5D8-416A-A789-302E92DC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889735-2099-4AFF-A1C1-DC3C5047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479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523B11-DB91-44B5-A6AC-971495B2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24325"/>
            <a:ext cx="42243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BBD300-0599-4C2D-A1CC-B0AF6BAB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076700"/>
            <a:ext cx="2271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A8F8E1-C899-4197-8F59-613C7E0F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4076700"/>
            <a:ext cx="3584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7DA392-87B2-4755-92F1-B358AA48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4124325"/>
            <a:ext cx="35271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50F0D6-77F6-42EA-88DE-83C8BA82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076700"/>
            <a:ext cx="7572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521B45-28D7-449E-8062-7029206D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124325"/>
            <a:ext cx="7000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A46961-335F-4F33-A30D-84405727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C228E5-50E8-42F6-B6DA-FEC4FC84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5CEB3F-2397-4C8A-8952-41E804B7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770DD6-A7EC-43AC-84CE-44B44AE0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Random50 had only 12% mini-only and 74% both-correct. That is why the random-control router saved more money but lost more accuracy than the critical-heavy size-50 split.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689FA1-FD4F-4300-B695-75D2EBBD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routing_split_half1_random_control_trainval*.json and routing_cost_comparison_testdata_hybrid_half1_random_control_trainval*.csv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C2D036-DA75-4ABD-B091-4EC158D8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4752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1B310-11BB-4F78-9E01-073F90E7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Bucket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0CA8A-0617-48C6-B767-4A0A68EA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size-50 ablations changed risk posture, not just sample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28C15-845F-4F4C-BD02-4E3783B1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1E46F-B3E5-40D4-B459-8D312856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0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FEC15-ED86-4E52-B96C-571438E1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Training mix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22BD0-C665-41C9-AABB-4B6F2D6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DCD01-4188-4848-AC76-90F8502B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E635A-DABD-4DF5-B59F-81D1D563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686D4-A389-45A5-BA6E-6901D46A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0611A-D886-4B12-B652-A5E55C04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F74E2-8C96-41EB-B88E-08031158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0D4BE-21FB-482F-B969-9743867F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CBDC9-7EC0-4F26-9B9A-F732AA9C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balancedish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D0CA9-0D47-4F29-AE81-491F60B8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479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13/9/14/14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97C37-A5B5-4F40-B8A3-16BB7123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26/18/28/28%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52C15-CB96-449E-A488-82411554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9C804-AE23-414C-A468-A058D232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885D1-0C78-429E-A985-E63DE521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6C9F0-F9E0-482F-9A3F-80C110ED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Most balanced: 79.0% / 24.3%.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38709-0792-4735-9CE3-3ABC8A26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11E52-CA3D-439A-BAEA-7BCF815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F1101-58AC-43B2-9E96-855E6247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19/0/31/0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0671D-843C-4B11-905D-83CA21F8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38/0/62/0%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E7693-5CEB-42AA-B76D-EF521C50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93900-329C-45E9-A71F-1DE636DE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686C82-7469-4021-98CD-C2056DC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6AA4FD-425E-4920-9BC3-2B8FC239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D90339-A32E-4223-B06D-D5F73567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0D3DE1-441E-473B-BF50-79861EF5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both-wrong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26E58B-EA89-40E8-8AB8-108799FA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52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19/0/0/31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D18752-EBC8-462A-BC37-33CD6A0E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38/0/0/62%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A51F26-4A78-4D44-8C1C-B31E1F18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7244DC-6F86-4431-9726-58178D4D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4FB240-67D1-4F94-86E2-B0C3560E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C2D927-8F2E-4CDC-A1F7-E723967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More conservative, but limited savings.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D21C3F-B245-4008-8DE8-B1066811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174272-63B2-4BDB-96AD-367E786D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both-correct heavy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E6A710-A3B8-41C6-A7A3-A6BA003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5/0/40/5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3AFB00-CA81-447A-B083-2DBB55B0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052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10/0/80/10%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186FDB-AB75-42D4-AFD5-3CA9C6E1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F0D1CC-1A2D-471C-A2A9-6C4D37ED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A03358-9375-498C-A325-61597E16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640B75-1421-4381-8FC9-3C3A562F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Too many cheap-safe examples pushed nano.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54225A-6844-42E4-AF38-34B0A9DA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2B820D-91F7-44DB-B3D2-9DB18966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both-wrong heavy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A435FF-398F-4446-B117-939047D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57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5/0/14/31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B1BC24-B11E-42A0-A5A3-A31C4662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10/0/28/62%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D8873B-A0B2-4AF0-AD82-7E552556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D7E0F1-66CD-4F06-A050-0755421D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47.3%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217AD8-2820-4D15-9D8A-E6B500DD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157/48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74C1ED-C56B-4A78-ADA9-17274F81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6730D1-7F46-40E0-A5A8-40D08FB8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M/N/B/W = mini-only / nano-only / both-correct / both-wrong. The important lever was bucket mix, not merely optimizer choice.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F5C252-3763-4A4B-94FD-EB03B20E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gepa_router_prompt_result_hybrid_half1_ablation50_*.json and corresponding testdata CSV files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E07DE0-93F3-426F-88DD-1514DC4B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0324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83FECA-272E-4FF7-A7D7-BD03E5C6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6A77E-D342-43F7-9246-BEB9B85D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router turned routing into a small trainable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8B083-B2CB-453C-B604-EDF3E08A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94BBD-E434-476D-A6EE-9D49310F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8F952-1C2E-42F0-8D0D-35E6EAB0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4B941-9BE3-49C6-81D1-B711FB08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Build routing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DC693-C156-40A7-B9C4-F03FD409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Each question is paired with mini/nano correctness and cost, then bucketed as mini-only, nano-only, both-correct, or both-wrong.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2CAB6-CDB2-4DFE-AFC1-2FE984BE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6E36E-566F-4382-A895-C8885946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FF566-3DC8-4C38-95EC-4335F047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Format the input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ADB4C-7508-4DCD-8948-195725D0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encoder sees category, source, question, and answer options. These runs did not include the nano answer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52C56-BF9F-4BF4-844E-251CA33A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4A156-8540-451E-8AE4-1B5F6820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F5057-FFCF-4488-A3D2-59A12291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Prepend soft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DF647-77D3-4279-9A93-25FC098B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Sixteen learned embedding vectors are concatenated before the token embeddings; they are not readable words.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50FD4-8101-4D47-AF8A-A537302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187BA-56B4-456D-9F61-25EB736C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43474-C86E-4ECC-A954-1374E56D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Classify the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73DD2-BFAC-4C00-B68D-C4B6F3E7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frozen encoder produces a representation, and a small linear head predicts nano vs mini.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70022-5FBD-4BD2-BD34-DCEB0820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3D861-FEE7-41E7-AC67-2A8F431E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C6B39-994E-4A5D-B33C-B6AECF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Apply a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EB39F-2433-4229-B007-2631DE65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mini probability is compared with a decision threshold; higher threshold routes more examples to nano.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09472-156B-4CB6-A159-2E8D8254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The important shift from prompt GEPA: the policy is no longer a single text instruction. It becomes a learned probability score that can be calibrated after training.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49321-410D-4E45-829D-FFEB056C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Implementation: train_softprompt_router.py; SoftPromptRouter.forward prepends learned embeddings and thresholds the mini probability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00969D-3474-4530-8B8B-534E5E0D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5559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67E849-653F-425B-A82D-8A34BC54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8822B-F874-43FB-B1F0-5420407E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Backbone and training setup were intentionally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FABB0-DBF0-45E2-B6F4-1D20360B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3F4C4-CF38-4D78-BCF6-E95BFA9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71954-3408-4EFC-B5D5-4DBCD54A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BD7FC-250A-4F7B-8C4A-97DFCB1B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DistilBERT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BE665-4DA6-40FB-8843-7F0CA15B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distilbert-base-uncased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6224B-7526-41B8-935A-517B776A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DA0BF-A878-49C5-ADBF-F491392C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EA22C-582A-439F-81FB-5C84571A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1D38C-D219-473C-B95B-93159F80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train_backbone =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74F43-3518-45A9-9986-9B813603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B2F56-FED7-47AE-A331-2CAF9010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1B472-3FE5-472B-8058-B8E737F6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242A8-924D-477B-9D65-55749F14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learned prompt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AC6C7-9289-4E26-8606-76C1B75C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BF489-33A8-4F05-9267-3D4B393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Trainable params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2C7F8-BC9C-460D-B7B7-0CB731EE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13.8k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125E1-EB18-4C46-94D0-CECB6673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out of 66.4M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E1FBC-4C59-4F34-B223-6F90FF66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1209E-8BC9-4105-9DB0-CA200AA2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Component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6DB5A-F15D-4560-A3C8-38B9A8E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What it did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B9920-D4DB-4094-B712-1EAE3DA2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Key setting in best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3888BA-04CF-4A03-AD7A-00C75553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2299A-6330-48FE-A62B-515176E3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Input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0B420C-FE69-42EC-893D-768A5D0B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Tokenized question/options into a transformer sequence.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377188-98A5-4587-8121-3417E673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max_length 384; no nano-answer text included.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FBCC54-4D01-41FC-974E-32C599B9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4BD28B-7FBD-40C7-9121-BEF85AA4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Soft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1BFCCC-4792-4494-9340-FBF03911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Added task-specific learned vectors before the real tokens.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EF1EE3-02FF-44CC-81A7-09F6D791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 vectors of DistilBERT hidden size.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4ABD25-509D-4828-A047-93A66CE2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3DBE62-7B49-4011-9061-29C4BD28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Classifier head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99ADCE-F63A-485B-AD2C-5AC24F5A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Mapped the encoder state to nano/mini logits.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605042-A426-4992-BB1B-1F067B6A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Linear layer over the first real token state after soft tokens.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7E6E7F-DA45-4282-BC37-3FFF1DA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071B91-56DB-4FCF-A83D-2AD5E62F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Training objective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BC96F4-5971-4EA4-832A-9BDF59D8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Optimized routing utility rather than just accuracy.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1E6990-A003-46CC-9A4E-10F1DD27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expected_utility loss; target mini rate 0.25; mini penalty 0.4.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A4210B-7374-4F51-A813-D8ABCCE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A11BFD-7748-4515-81B9-B8AE07C2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140FD6-68F0-45DE-B7C7-ECADA383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24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Converted mini probability into a discrete route.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12845B-4625-4C8D-9819-02297900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245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threshold 0.45 for the selected 205-test run.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BEF334-9697-498C-847C-E921A962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Best-run args: hf_model distilbert-base-uncased, epochs 8, batch 8, learning_rate 0.01, train_backbone false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CC62D6-D41C-4AF2-96A4-5CB63181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14940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4412F-B26C-4138-AEF4-D2CAA77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38157-D70C-4F5F-9FA4-C1ED7AE9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Soft prompt was added as a trainable router after the prompt sweeps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8CDA0-1A25-4516-981F-0B8FDC49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A8B41-EE8A-49CE-AAB3-94BDB966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37EA3-9921-4A8C-983C-38A65188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Model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B83AF-D4A1-4BBD-8DC9-CF0BBC6A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140E5-0E33-499C-980A-30DC88B8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trainable soft tokens + classifier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753FE-7150-4C46-9376-A10BF8BC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908D8-ED30-4BDF-B23E-B69E305E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Initial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E6376-5A12-40E0-9DDC-5A5B2C58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11B3A-00E6-4994-B2F2-8D8C2EEA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same half1 trainval50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F368B-C95A-45D6-9574-89D8AC3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5FFBE-1788-49D7-B45B-AA700043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heldout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7081B-3426-441C-9AF1-9EDC75A4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2E3FA-D850-4D7E-83A4-0E48CAC4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205-test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8A5F9-95AE-44BC-96A9-35ED5F59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8CF3B-87F7-41BC-9CE2-E57B999B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savings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28C15-B989-467B-AE98-29AFA0B2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AEAA7-53FC-4096-9D7B-C5F1DF64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95 nano / 110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31C6B-D26D-45BE-AEFE-28452B89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FEF7A-2F19-4DA8-A708-807158EA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C8F8C-47CE-4834-BB5B-89EFF846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train/val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2279E-FBA7-4557-BF77-F43B31C2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AB4220-4A2F-4F2C-B238-E17D1D17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F841A-07C0-4F12-A112-949896D0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40AC5-07EF-4117-9F37-9B3E0C5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83EB5-5BEE-457F-968E-32928F6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8142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C88D6-8A6D-49BF-82D2-528E5936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09702-90C8-4459-A148-592939ED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E3FCE-4F66-41A9-8F74-1A3CD47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half1 trainval50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ED096C-AD33-406A-A3F5-A203B150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40/10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4F09AA-9A40-4018-A516-D92041DD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8564F9-9BD9-431C-8F52-AB80032B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41DD02-0E48-44E3-85EE-F363BF99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38D607-4484-431C-90C9-0ED56426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14/191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12C5B9-D476-4395-B864-BADCC2D2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837D05-6179-4EC4-991F-A2AD0239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719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Accuracy-preserving, too conservative.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B4C828-B8F1-42CB-BDA8-2F4870FD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3F287F-24AC-4AB1-9E0C-11DA3C1F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balanced50 risk EU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EBAAA5-00FD-4399-BDCA-75FAB4AA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138A63-33EB-478A-8840-F8EEA843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C9911C-2EDE-4471-8774-B3E44C46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8F8676-2CAF-4E65-A5ED-E7BFF432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C4B1EB-B3C0-4C0C-B284-707D1EF0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2440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F04238-2BF5-49D4-8856-89E2144A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BC4EEB-C3D6-49C7-A258-CD898B46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244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Best usable trade-off.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DBC219-8D22-49FC-ACAF-E71D3AF4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396981-D4A1-45D7-8A57-49F9DEC2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first205 random50 risk EU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3745BF-2633-4CC6-BE5B-8C18E83F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50/0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4CD48C-B1E8-4967-A341-807BECCA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768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E6F431-2B1F-4346-853C-DBD63D4F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FFD235-522C-4023-B9FB-27BDD345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63.4%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7BC8F0-9D48-4EA8-AA7B-7E9053F0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768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169/36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DC7406-DBCE-41D3-BFBF-69C017DF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68C968-A90F-44F0-81D2-D77A0559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768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Cheap but unsafe.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43BA82-9D44-496F-8A89-A4549A5A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softprompt_router_half1_trainval50_test_smoke.json, softprompt_router_balanced50_risk_best_expected_utility_test205.json, softprompt_router_first205_random50_seed0_risk_expected_utility.json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52C09F-D1AA-4743-A7C1-9A56E07D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39442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D7E5BE-58D4-4BBC-9548-8E512902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Threshold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28FB0-360B-4198-9620-E8B0F632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threshold exposed a smoother risk-cost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44124-946B-4395-B3D1-9E15663E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26344-6285-425C-92CC-3AC37C41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43B6C-2BD5-447A-B670-04A6BC36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CAB38-183B-4AC7-A2F7-A327A592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8114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23771-9997-4114-8171-9F324C7B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95D98-7744-4ACB-A24B-4A055239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6BEA2-9896-4B60-BE76-3E77F47F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18C15-3A47-44A4-B2DD-0C22BB90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915C4-A1E7-44A2-868C-6CF374DF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0E514-D09F-4332-8EB3-C6F2F29A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9B4C7-E52D-4FB8-BE9B-90A1C137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B2119-C04E-4111-B221-48E2E0BF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3594B-C64D-4C0E-ACBE-6583E6C7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73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26C05-8FAA-44BA-96B2-164B1F34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DD78A-4062-4129-854E-358399E5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9.5%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14E9E-047C-42FF-A573-FD0A3129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E63D2-7A7E-460C-ADE7-A3041B83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35C06-8580-40FB-B46F-857AC1AB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BF744-82F2-4CD9-9CE6-4416A85D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906CD-C84D-411F-ACCE-305D0749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66008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F6FF4-106C-4B43-B79C-2180ACE6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0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A8CA8-74C9-4EDE-9AF0-6723B232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16.8%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CABE8-6DA5-467E-A066-712307BD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B0A629-E536-43F2-85A7-FE608B69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3F232C-3DE0-4A3A-AF29-E8D0670C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66DD8C-CB83-44F8-A834-3346646F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C09242-331D-4BA9-8679-0ECE00BC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9665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615CF-4AC0-4BDC-B6B7-24A834A2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81151C-14DE-4283-ABFE-822F2200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24.6%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54996-0062-429E-A723-72C2EF7E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B6A137-C461-4AD5-92C6-338454B9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478E15-961A-4D2C-9F6E-0C572B64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6E5626-57EC-4BF0-BF16-22BCD564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3C76A3-09E9-4732-9EF9-3F9DC3B8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59519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A413DF-202F-4A80-B401-24B12F77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C82F5F-B666-4FC7-AC46-057914F1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73984F-9E1E-4B68-B2B1-0DC8266C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500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5A56F1-4FD6-4CCF-B5AB-CE01F8DD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Threshold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8CEBCA-D9B0-4FCA-8BB3-14D4C8BF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435B96-12DE-4262-8637-B24316CB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8C9139-4486-4EAB-A47C-4931FBA8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145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F897F1-97D3-40B2-AE1A-4A13E345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 score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8FA8D2-B824-42D1-A762-025FA77D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7C12EE-3855-4876-B520-E87E9353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0E7A3A-1157-4836-A8E7-5A767438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E3114D-57B9-4499-8AEC-FDF0DC5C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6DCBBF-42D2-495F-B5E5-C62620CD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FC7668-5851-4A29-83F2-1B802E4E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050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BB7168-FD2D-42C0-86D4-13C41928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E848D7-8857-4681-B84F-E8C910DA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D3958A-4B95-4EF9-AF97-E7C065AC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81.0%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C6B2DF-DAAA-40D4-81F7-81FD5183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842CD1-4E5B-4232-9985-D05553B4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03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29/176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31E3F0-ED78-4BA7-8017-E14394E3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0.460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653A48-44FC-4AB1-AE7C-597CAFDE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8B29FB-B3FC-4E9B-B1C1-E0E3A944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461E9D-CF59-4128-A9BB-791F258D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12A9A0-5368-407B-B383-8A3E1540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FCFC3A-648D-4222-8455-424FFBEF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46/159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0EBFCE-B5C7-4EA6-B764-5AA43DF2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956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6FA272-3BF1-4789-90D5-D0512C2B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005527-A9BB-4B1C-9D3D-18CC9F8A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D1ADA5-41ED-4E74-A81C-8BC7CF9D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464EDD-5CA8-41D2-A22C-C7F16944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24.6%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DBC490-17A6-4F38-8473-9E020597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909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66/139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DD8893-0A98-4D24-B276-CEE92CE1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909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95D042-5AD8-4016-96B4-D34E0241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AAC8EAB-D416-4CA3-BD5E-E08BCD18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0.45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0808F3A-B240-4346-9AE2-6A338A65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641145-CEB1-4724-9E98-6462B522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1F19E1-324D-4EC7-B5F5-3B32E8CE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862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DCBE63-B209-4E37-B7DA-84A095E0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862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0.556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9139BA7-4574-4610-91C5-F2B1B04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Unlike a single prompt, the soft-prompt router can move along a threshold curve. The selected 0.45 point traded one accuracy point for a much larger cost reduction.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D6B3E0-1EC0-4AD5-AD08-79A9799D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Threshold rows from softprompt_router_balanced50_risk_best_expected_utility_test205.json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BD2909F-3F4E-4694-A0E7-155B31C4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445061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4ACA4E-1C33-4DC5-868C-9BAF80B2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0E2BA-0A99-4F8C-BA6F-34DBE9B9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What the combined story says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C8762-1675-414D-AA8E-D6FBB77E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1DD9B-640E-4A71-A780-FC8CC4D0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486AD-54B7-477F-B3EF-135A275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10626-175E-4235-B7A7-BF222CD5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482CD-8065-4E72-B474-093EF6D9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5CBBD-2D6F-4122-ACC5-91BCA6DB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8822B-EB09-47EC-96BF-CCC4453D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Data mix dominated the prompt-router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8F8A0-8D2E-4790-8EE1-8CAABFED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mini-only share fell from 76.0% to 9.5% across the size sweep.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5EC0D-FC57-4EAC-B39E-CF3872DD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 not treat larger train/val size as automatically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94BAE-3BF3-48E5-87EF-EAD66A41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1B7BB-3837-49A6-B345-3ABB0E59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Size 50 remained the clean prompt-router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66C96-84BB-4930-BEE2-8D678806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80.0% accuracy, 12.6% savings, 45/160 routes.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A2759-D731-46E0-B1F1-277CC46B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It preserved accuracy because critical examples were over-represented.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E5263-70F3-4D64-82C7-6D44521D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BA6CA-DBDB-4EC5-8C47-75A9FD25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Soft prompt improved the trade-off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D6CA6-7E40-44CA-B691-0D0C1A4F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81.0% accuracy, 40.6% savings, 95/110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F250F-FAA1-4E03-B9FB-42ED5223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Trainable thresholding was more useful than another static prompt variant.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E4B15-986A-46E5-9090-1920A188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53D26-76A6-48FD-AE2F-9347F726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 soft prompt was unsafe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3685D-DC81-4AE9-9304-C6452C8C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71.2% accuracy, 63.4% savings, 24 critical misroutes.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6EF12-431A-4D30-97A7-B06AD40D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training mix still matters even with a learned router.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0FA6E-73B1-457F-9375-A4266B6B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Next experiment: keep the fixed 205-test set, sweep bucket mix and soft-prompt threshold together, and report accuracy loss, cost savings, and critical misroutes as a single scorecard.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8E99B-874F-4F42-BB40-0AA5E0F6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Scope: first-half 205 train/validation experiments plus later soft-prompt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63835-95D9-4F22-BEFB-D124FE80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55682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EB96B-47F9-4BBB-8F40-C4664E1D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A1DB5-245F-42F6-A0B2-82CAC018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Next: compare with routing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6F342-B592-456A-9F07-63A6E10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1A73C-C99D-4BBE-B735-0D3FD33A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Simple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F4C55-27C6-4794-B427-E5E1F034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Always-small / Always-large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8D3D4-06EB-4605-B216-3CA0656B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3D94D-B1EA-4F04-A04A-16DD83CA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Oracle 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6E3A1-561A-4EC1-808F-7ABC94A9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A167C-5DFA-4799-9D4C-43C726E5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Random / cost-ratio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05556-D69C-4F31-9CFB-86334487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45F56-0FE5-4A3E-83E0-DC002788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Related methods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839A7-B519-4FAB-B5BE-A639A948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Confidence-threshold cascade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8D84B-D1B6-4F73-B7CD-134D949E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0B07C-0F58-44D2-A2AF-143B209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FrugalGPT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99C8A-4E81-41F1-8CE2-1C8EE83C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F9459-2D4A-4561-BDF8-C025A863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RouteLLM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4A462-7A41-4A7B-98A7-BDE2D419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910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B4501-F0A2-4799-A8AC-6B1DA949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005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Hybrid 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9C86E-71DC-4AC2-A18C-C9E3F314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CC297-DC58-4DE9-A8EE-DB782B3B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Compare the accuracy-cost curve on the same fixed second-half 205 test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B6959-33E7-4803-A50E-8D78C08C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Refs: Self-REF 2410.13284; UCCI 2605.18796; FrugalGPT 2305.05176; RouteLLM 2406.18665; Hybrid LLM 2404.14618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64342-B949-49FE-AD95-4161245A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1597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2026-07-14T19:27:07.2170000Z</dcterms:created>
  <dcterms:modified xsi:type="dcterms:W3CDTF">2026-07-14T19:27:07.2170000Z</dcterms:modified>
</coreProperties>
</file>